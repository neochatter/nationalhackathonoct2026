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Before filter tuning</c:v>
                </c:pt>
              </c:strCache>
            </c:strRef>
          </c:tx>
          <c:spPr>
            <a:solidFill>
              <a:srgbClr val="9AA5B1"/>
            </a:solidFill>
          </c:spPr>
          <c:cat>
            <c:strRef>
              <c:f>Sheet1!$A$2:$A$4</c:f>
              <c:strCache>
                <c:ptCount val="3"/>
                <c:pt idx="0">
                  <c:v>Total (RMSE)</c:v>
                </c:pt>
                <c:pt idx="1">
                  <c:v>Along the track</c:v>
                </c:pt>
                <c:pt idx="2">
                  <c:v>Across the track</c:v>
                </c:pt>
              </c:strCache>
            </c:strRef>
          </c:cat>
          <c:val>
            <c:numRef>
              <c:f>Sheet1!$B$2:$B$4</c:f>
              <c:numCache>
                <c:formatCode>General</c:formatCode>
                <c:ptCount val="3"/>
                <c:pt idx="0">
                  <c:v>24.508</c:v>
                </c:pt>
                <c:pt idx="1">
                  <c:v>24.302</c:v>
                </c:pt>
                <c:pt idx="2">
                  <c:v>3.172</c:v>
                </c:pt>
              </c:numCache>
            </c:numRef>
          </c:val>
        </c:ser>
        <c:ser>
          <c:idx val="1"/>
          <c:order val="1"/>
          <c:tx>
            <c:strRef>
              <c:f>Sheet1!$C$1</c:f>
              <c:strCache>
                <c:ptCount val="1"/>
                <c:pt idx="0">
                  <c:v>After filter tuning</c:v>
                </c:pt>
              </c:strCache>
            </c:strRef>
          </c:tx>
          <c:spPr>
            <a:solidFill>
              <a:srgbClr val="1E8A5A"/>
            </a:solidFill>
          </c:spPr>
          <c:cat>
            <c:strRef>
              <c:f>Sheet1!$A$2:$A$4</c:f>
              <c:strCache>
                <c:ptCount val="3"/>
                <c:pt idx="0">
                  <c:v>Total (RMSE)</c:v>
                </c:pt>
                <c:pt idx="1">
                  <c:v>Along the track</c:v>
                </c:pt>
                <c:pt idx="2">
                  <c:v>Across the track</c:v>
                </c:pt>
              </c:strCache>
            </c:strRef>
          </c:cat>
          <c:val>
            <c:numRef>
              <c:f>Sheet1!$C$2:$C$4</c:f>
              <c:numCache>
                <c:formatCode>General</c:formatCode>
                <c:ptCount val="3"/>
                <c:pt idx="0">
                  <c:v>13.688</c:v>
                </c:pt>
                <c:pt idx="1">
                  <c:v>13.308</c:v>
                </c:pt>
                <c:pt idx="2">
                  <c:v>3.201</c:v>
                </c:pt>
              </c:numCache>
            </c:numRef>
          </c:val>
        </c:ser>
        <c:dLbls>
          <c:numFmt formatCode="0.0" sourceLinked="0"/>
          <c:txPr>
            <a:bodyPr/>
            <a:lstStyle/>
            <a:p>
              <a:pPr>
                <a:defRPr sz="1600" b="1"/>
              </a:pPr>
            </a:p>
          </c:txPr>
          <c:dLblPos val="outEnd"/>
          <c:showLegendKey val="0"/>
          <c:showVal val="1"/>
          <c:showCatName val="0"/>
          <c:showSerName val="0"/>
          <c:showPercent val="0"/>
          <c:showBubbleSize val="0"/>
          <c:showLeaderLines val="1"/>
        </c:dLbls>
        <c:gapWidth val="55"/>
        <c:overlap val="-8"/>
        <c:axId val="-2068027336"/>
        <c:axId val="-2113994440"/>
      </c:barChart>
      <c:catAx>
        <c:axId val="-2068027336"/>
        <c:scaling>
          <c:orientation val="minMax"/>
        </c:scaling>
        <c:delete val="0"/>
        <c:axPos val="b"/>
        <c:majorTickMark val="out"/>
        <c:minorTickMark val="none"/>
        <c:tickLblPos val="nextTo"/>
        <c:spPr>
          <a:ln>
            <a:solidFill>
              <a:srgbClr val="D5DBE3"/>
            </a:solidFill>
          </a:ln>
        </c:spPr>
        <c:txPr>
          <a:bodyPr/>
          <a:lstStyle/>
          <a:p>
            <a:pPr>
              <a:defRPr sz="1400"/>
            </a:pPr>
          </a:p>
        </c:txPr>
        <c:crossAx val="-2113994440"/>
        <c:crosses val="autoZero"/>
        <c:auto val="1"/>
        <c:lblAlgn val="ctr"/>
        <c:lblOffset val="100"/>
        <c:noMultiLvlLbl val="0"/>
      </c:catAx>
      <c:valAx>
        <c:axId val="-2113994440"/>
        <c:scaling>
          <c:max val="29.0"/>
          <c:min val="0.0"/>
        </c:scaling>
        <c:delete/>
        <c:axPos val="l"/>
        <c:majorTickMark val="out"/>
        <c:minorTickMark val="none"/>
        <c:tickLblPos val="nextTo"/>
        <c:crossAx val="-2068027336"/>
        <c:crosses val="autoZero"/>
      </c:valAx>
    </c:plotArea>
    <c:legend>
      <c:legendPos val="b"/>
      <c:overlay val="0"/>
      <c:txPr>
        <a:bodyPr/>
        <a:lstStyle/>
        <a:p>
          <a:pPr>
            <a:defRPr sz="1400"/>
          </a:pPr>
        </a:p>
      </c:txPr>
    </c:legend>
    <c:dispBlanksAs val="gap"/>
  </c:chart>
  <c:txPr>
    <a:bodyPr/>
    <a:lstStyle/>
    <a:p>
      <a:pPr>
        <a:defRPr sz="1400">
          <a:solidFill>
            <a:srgbClr val="1B1F24"/>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a race car at forty metres per second, at night. Between two camera frames it has travelled four metres. We have to say where it is, to under a metre sideways, using cameras only: no GPS, no lidar. And the estimate may only use images up to now, which is what causal means, exactly as on the real car.</a:t>
            </a:r>
          </a:p>
          <a:p>
            <a:r>
              <a:t>Our training recording is a night session, on the left. But the hidden test may be faster and in different light, like the daylight sample on the right. So the problem is really two problems: locate precisely, and do it in light we have never labelled.</a:t>
            </a:r>
          </a:p>
          <a:p>
            <a:r>
              <a:t>Next: our idea in one picture.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whole system. Top lane, the cameras. A neural network turns each view into a fingerprint, a list of 256 numbers; similar views give similar fingerprints. We built a map from the training laps: each frame's fingerprint with its known position. Looking one up tells us roughly where we are.</a:t>
            </a:r>
          </a:p>
          <a:p>
            <a:r>
              <a:t>Bottom lane, the car's own speed and turn rate, which the rules allow. They say how far we moved, whatever the light. Motion learned from camera pairs is the backup.</a:t>
            </a:r>
          </a:p>
          <a:p>
            <a:r>
              <a:t>A Kalman filter blends both, trusting each by its confidence, and outputs x, y and heading ten times a second.</a:t>
            </a:r>
          </a:p>
          <a:p>
            <a:r>
              <a:t>Next: why each part is there.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part answers a difficulty the organisers named.</a:t>
            </a:r>
          </a:p>
          <a:p>
            <a:r>
              <a:t>Night versus unknown light: a CycleGAN turns our night frames into synthetic daylight. That is training only, so it costs nothing at run time.</a:t>
            </a:r>
          </a:p>
          <a:p>
            <a:r>
              <a:t>Look-alike straights: we train on same-place, different-lap pairs and trust a weak match less.</a:t>
            </a:r>
          </a:p>
          <a:p>
            <a:r>
              <a:t>Timing: a tenth of a second is four metres, so each camera contributes only its newest image no later than now.</a:t>
            </a:r>
          </a:p>
          <a:p>
            <a:r>
              <a:t>Drift and getting lost: motion comes from the car, and several confident matches elsewhere trigger a re-lock. We do not assume a start pose: we track twenty-four candidates and keep the best.</a:t>
            </a:r>
          </a:p>
          <a:p>
            <a:r>
              <a:t>Now the evidence.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adding anything, we measured. An offline diagnostic tool, never part of the submission, showed 98 percent of the squared error was along the track. The filter trusted its motion too much and the map match too little.</a:t>
            </a:r>
          </a:p>
          <a:p>
            <a:r>
              <a:t>Re-weighting two settings, with no retraining, cut position error from 24.5 to 13.7 metres, minus 44 percent. The median fell from 9.0 to 1.5 metres. Error across the track stayed near 3 metres, as predicted.</a:t>
            </a:r>
          </a:p>
          <a:p>
            <a:r>
              <a:t>Those figures are from the earlier pipeline. For the final one: validation error [FILL IN: final validation position RMSE], and [FILL IN: ms per frame] per frame on [FILL IN: hardware].</a:t>
            </a:r>
          </a:p>
          <a:p>
            <a:r>
              <a:t>Next: where it still fails.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failure cases, honestly.</a:t>
            </a:r>
          </a:p>
          <a:p>
            <a:r>
              <a:t>One, look-alike straights. Along-track error is still our weak spot: even after tuning, five percent of frames are still more than twenty metres off.</a:t>
            </a:r>
          </a:p>
          <a:p>
            <a:r>
              <a:t>Two, places the map has never seen. In an earlier validation run the car ended parked on an unmapped spot, and nearly nine-tenths of the squared error came from the last nine seconds. We have since added a similarity check, a hold-still rule and a global re-lock, but we have not re-measured that yet.</a:t>
            </a:r>
          </a:p>
          <a:p>
            <a:r>
              <a:t>Three, daylight. Our synthetic daylight is generated, not measured, and the daylight sample has no ground-truth poses to score against.</a:t>
            </a:r>
          </a:p>
          <a:p>
            <a:r>
              <a:t>Lessons next.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lessons. Diagnose before you train: one offline tool told us the fault was the filter, not the network. Calibrated trust beats a bigger model: two settings gave minus forty-four percent. And use every signal the rules allow: the car's speed and turn rate do not depend on light.</a:t>
            </a:r>
          </a:p>
          <a:p>
            <a:r>
              <a:t>Next, we would match short sequences of views instead of single frames, and refine the position geometrically once the place is known, which is the path to sub-metre accuracy.</a:t>
            </a:r>
          </a:p>
          <a:p>
            <a:r>
              <a:t>Everything is in the repository with a README and requirements. The one pre-trained model is ImageNet ResNet-18, declared here, and daylight-sample frames are used as unlabelled pixels only.</a:t>
            </a:r>
          </a:p>
          <a:p>
            <a:r>
              <a:t>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66928"/>
            <a:ext cx="11094415" cy="777240"/>
          </a:xfrm>
        </p:spPr>
        <p:txBody>
          <a:bodyPr wrap="square" lIns="0" tIns="0" rIns="0" bIns="0" anchor="t">
            <a:noAutofit/>
          </a:bodyPr>
          <a:lstStyle/>
          <a:p>
            <a:pPr algn="l">
              <a:spcAft>
                <a:spcPts val="0"/>
              </a:spcAft>
            </a:pPr>
            <a:r>
              <a:rPr sz="4400" b="1" i="0">
                <a:solidFill>
                  <a:srgbClr val="1B1F24"/>
                </a:solidFill>
                <a:latin typeface="Arial"/>
              </a:rPr>
              <a:t>Where is the car?</a:t>
            </a:r>
          </a:p>
        </p:txBody>
      </p:sp>
      <p:sp>
        <p:nvSpPr>
          <p:cNvPr id="3" name="Kicker"/>
          <p:cNvSpPr txBox="1"/>
          <p:nvPr/>
        </p:nvSpPr>
        <p:spPr>
          <a:xfrm>
            <a:off x="548640" y="274320"/>
            <a:ext cx="8686800" cy="274320"/>
          </a:xfrm>
          <a:prstGeom prst="rect">
            <a:avLst/>
          </a:prstGeom>
          <a:noFill/>
        </p:spPr>
        <p:txBody>
          <a:bodyPr wrap="square" lIns="0" tIns="0" rIns="0" bIns="0" anchor="t">
            <a:noAutofit/>
          </a:bodyPr>
          <a:lstStyle/>
          <a:p>
            <a:pPr algn="l">
              <a:spcAft>
                <a:spcPts val="0"/>
              </a:spcAft>
            </a:pPr>
            <a:r>
              <a:rPr sz="1400" b="1" i="0">
                <a:solidFill>
                  <a:srgbClr val="2F6FDE"/>
                </a:solidFill>
                <a:latin typeface="Arial"/>
              </a:rPr>
              <a:t>NATIONAL AI HACKATHON 2026  ·  CONSTRUCTOR LABS CHALLENGE</a:t>
            </a:r>
          </a:p>
        </p:txBody>
      </p:sp>
      <p:sp>
        <p:nvSpPr>
          <p:cNvPr id="4" name="Footer"/>
          <p:cNvSpPr txBox="1"/>
          <p:nvPr/>
        </p:nvSpPr>
        <p:spPr>
          <a:xfrm>
            <a:off x="548640" y="6473952"/>
            <a:ext cx="8229600" cy="256032"/>
          </a:xfrm>
          <a:prstGeom prst="rect">
            <a:avLst/>
          </a:prstGeom>
          <a:noFill/>
        </p:spPr>
        <p:txBody>
          <a:bodyPr wrap="square" lIns="0" tIns="0" rIns="0" bIns="0" anchor="t">
            <a:noAutofit/>
          </a:bodyPr>
          <a:lstStyle/>
          <a:p>
            <a:pPr algn="l">
              <a:spcAft>
                <a:spcPts val="0"/>
              </a:spcAft>
            </a:pPr>
            <a:r>
              <a:rPr sz="1200" b="0" i="0">
                <a:solidFill>
                  <a:srgbClr val="6B7787"/>
                </a:solidFill>
                <a:latin typeface="Arial"/>
              </a:rPr>
              <a:t>Camera-only localization of a race car  ·  Constructor Labs challenge</a:t>
            </a:r>
          </a:p>
        </p:txBody>
      </p:sp>
      <p:sp>
        <p:nvSpPr>
          <p:cNvPr id="5" name="Slide number"/>
          <p:cNvSpPr txBox="1"/>
          <p:nvPr/>
        </p:nvSpPr>
        <p:spPr>
          <a:xfrm>
            <a:off x="10271455" y="6473952"/>
            <a:ext cx="1371600" cy="256032"/>
          </a:xfrm>
          <a:prstGeom prst="rect">
            <a:avLst/>
          </a:prstGeom>
          <a:noFill/>
        </p:spPr>
        <p:txBody>
          <a:bodyPr wrap="square" lIns="0" tIns="0" rIns="0" bIns="0" anchor="t">
            <a:noAutofit/>
          </a:bodyPr>
          <a:lstStyle/>
          <a:p>
            <a:pPr algn="r">
              <a:spcAft>
                <a:spcPts val="0"/>
              </a:spcAft>
            </a:pPr>
            <a:r>
              <a:rPr sz="1200" b="0" i="0">
                <a:solidFill>
                  <a:srgbClr val="6B7787"/>
                </a:solidFill>
                <a:latin typeface="Arial"/>
              </a:rPr>
              <a:t>1 / 6</a:t>
            </a:r>
          </a:p>
        </p:txBody>
      </p:sp>
      <p:sp>
        <p:nvSpPr>
          <p:cNvPr id="6" name="Subtitle"/>
          <p:cNvSpPr txBox="1"/>
          <p:nvPr/>
        </p:nvSpPr>
        <p:spPr>
          <a:xfrm>
            <a:off x="548640" y="1371600"/>
            <a:ext cx="11094415" cy="365760"/>
          </a:xfrm>
          <a:prstGeom prst="rect">
            <a:avLst/>
          </a:prstGeom>
          <a:noFill/>
        </p:spPr>
        <p:txBody>
          <a:bodyPr wrap="square" lIns="0" tIns="0" rIns="0" bIns="0" anchor="t">
            <a:noAutofit/>
          </a:bodyPr>
          <a:lstStyle/>
          <a:p>
            <a:pPr algn="l">
              <a:spcAft>
                <a:spcPts val="0"/>
              </a:spcAft>
            </a:pPr>
            <a:r>
              <a:rPr sz="2200" b="0" i="0">
                <a:solidFill>
                  <a:srgbClr val="5F6B7A"/>
                </a:solidFill>
                <a:latin typeface="Arial"/>
              </a:rPr>
              <a:t>Cameras only. No GNSS, no LiDAR, no peeking at future frames.</a:t>
            </a:r>
          </a:p>
        </p:txBody>
      </p:sp>
      <p:sp>
        <p:nvSpPr>
          <p:cNvPr id="7" name="Placeholder: team name"/>
          <p:cNvSpPr/>
          <p:nvPr/>
        </p:nvSpPr>
        <p:spPr>
          <a:xfrm>
            <a:off x="9448495" y="246888"/>
            <a:ext cx="2194560" cy="329184"/>
          </a:xfrm>
          <a:prstGeom prst="roundRect">
            <a:avLst>
              <a:gd name="adj" fmla="val 20000"/>
            </a:avLst>
          </a:prstGeom>
          <a:solidFill>
            <a:srgbClr val="FFF4D6"/>
          </a:solidFill>
          <a:ln w="19050">
            <a:solidFill>
              <a:srgbClr val="E0A8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noAutofit/>
          </a:bodyPr>
          <a:lstStyle/>
          <a:p>
            <a:pPr algn="ctr">
              <a:spcAft>
                <a:spcPts val="0"/>
              </a:spcAft>
            </a:pPr>
            <a:r>
              <a:rPr sz="1400" b="1" i="0">
                <a:solidFill>
                  <a:srgbClr val="8A5A00"/>
                </a:solidFill>
                <a:latin typeface="Arial"/>
              </a:rPr>
              <a:t>Team name: fill in</a:t>
            </a:r>
          </a:p>
        </p:txBody>
      </p:sp>
      <p:pic>
        <p:nvPicPr>
          <p:cNvPr id="8" name="Photo: night training frame" descr="Front-left camera frame from the night training session: dark track, floodlights and a gantry"/>
          <p:cNvPicPr>
            <a:picLocks noChangeAspect="1"/>
          </p:cNvPicPr>
          <p:nvPr/>
        </p:nvPicPr>
        <p:blipFill>
          <a:blip r:embed="rId2"/>
          <a:stretch>
            <a:fillRect/>
          </a:stretch>
        </p:blipFill>
        <p:spPr>
          <a:xfrm>
            <a:off x="548640" y="1965960"/>
            <a:ext cx="5440680" cy="2628529"/>
          </a:xfrm>
          <a:prstGeom prst="rect">
            <a:avLst/>
          </a:prstGeom>
          <a:ln w="9525">
            <a:solidFill>
              <a:srgbClr val="D5DBE3"/>
            </a:solidFill>
          </a:ln>
        </p:spPr>
      </p:pic>
      <p:pic>
        <p:nvPicPr>
          <p:cNvPr id="9" name="Photo: daylight sample frame" descr="Front-left camera frame from the daylight sample recording: grandstand and control tower in daylight"/>
          <p:cNvPicPr>
            <a:picLocks noChangeAspect="1"/>
          </p:cNvPicPr>
          <p:nvPr/>
        </p:nvPicPr>
        <p:blipFill>
          <a:blip r:embed="rId3"/>
          <a:stretch>
            <a:fillRect/>
          </a:stretch>
        </p:blipFill>
        <p:spPr>
          <a:xfrm>
            <a:off x="6202375" y="1965960"/>
            <a:ext cx="5440680" cy="2628529"/>
          </a:xfrm>
          <a:prstGeom prst="rect">
            <a:avLst/>
          </a:prstGeom>
          <a:ln w="9525">
            <a:solidFill>
              <a:srgbClr val="D5DBE3"/>
            </a:solidFill>
          </a:ln>
        </p:spPr>
      </p:pic>
      <p:sp>
        <p:nvSpPr>
          <p:cNvPr id="10" name="Badge: night"/>
          <p:cNvSpPr/>
          <p:nvPr/>
        </p:nvSpPr>
        <p:spPr>
          <a:xfrm>
            <a:off x="685800" y="2103120"/>
            <a:ext cx="2148840" cy="329184"/>
          </a:xfrm>
          <a:prstGeom prst="roundRect">
            <a:avLst>
              <a:gd name="adj" fmla="val 50000"/>
            </a:avLst>
          </a:prstGeom>
          <a:solidFill>
            <a:srgbClr val="1B1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noAutofit/>
          </a:bodyPr>
          <a:lstStyle/>
          <a:p>
            <a:pPr algn="ctr">
              <a:spcAft>
                <a:spcPts val="0"/>
              </a:spcAft>
            </a:pPr>
            <a:r>
              <a:rPr sz="1400" b="1" i="0">
                <a:solidFill>
                  <a:srgbClr val="FFFFFF"/>
                </a:solidFill>
                <a:latin typeface="Arial"/>
              </a:rPr>
              <a:t>Night  ·  39 m/s</a:t>
            </a:r>
          </a:p>
        </p:txBody>
      </p:sp>
      <p:sp>
        <p:nvSpPr>
          <p:cNvPr id="11" name="Badge: daylight"/>
          <p:cNvSpPr/>
          <p:nvPr/>
        </p:nvSpPr>
        <p:spPr>
          <a:xfrm>
            <a:off x="6339535" y="2103120"/>
            <a:ext cx="2148840" cy="329184"/>
          </a:xfrm>
          <a:prstGeom prst="roundRect">
            <a:avLst>
              <a:gd name="adj" fmla="val 50000"/>
            </a:avLst>
          </a:prstGeom>
          <a:solidFill>
            <a:srgbClr val="2F6F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noAutofit/>
          </a:bodyPr>
          <a:lstStyle/>
          <a:p>
            <a:pPr algn="ctr">
              <a:spcAft>
                <a:spcPts val="0"/>
              </a:spcAft>
            </a:pPr>
            <a:r>
              <a:rPr sz="1400" b="1" i="0">
                <a:solidFill>
                  <a:srgbClr val="FFFFFF"/>
                </a:solidFill>
                <a:latin typeface="Arial"/>
              </a:rPr>
              <a:t>Daylight sample</a:t>
            </a:r>
          </a:p>
        </p:txBody>
      </p:sp>
      <p:sp>
        <p:nvSpPr>
          <p:cNvPr id="12" name="Caption: night"/>
          <p:cNvSpPr txBox="1"/>
          <p:nvPr/>
        </p:nvSpPr>
        <p:spPr>
          <a:xfrm>
            <a:off x="548640" y="4669135"/>
            <a:ext cx="5440680" cy="320040"/>
          </a:xfrm>
          <a:prstGeom prst="rect">
            <a:avLst/>
          </a:prstGeom>
          <a:noFill/>
        </p:spPr>
        <p:txBody>
          <a:bodyPr wrap="square" lIns="0" tIns="0" rIns="0" bIns="0" anchor="t">
            <a:noAutofit/>
          </a:bodyPr>
          <a:lstStyle/>
          <a:p>
            <a:pPr algn="l">
              <a:spcAft>
                <a:spcPts val="0"/>
              </a:spcAft>
            </a:pPr>
            <a:r>
              <a:rPr sz="1600" b="0" i="0">
                <a:solidFill>
                  <a:srgbClr val="5F6B7A"/>
                </a:solidFill>
                <a:latin typeface="Arial"/>
              </a:rPr>
              <a:t>Training: 1194 s of night driving</a:t>
            </a:r>
          </a:p>
        </p:txBody>
      </p:sp>
      <p:sp>
        <p:nvSpPr>
          <p:cNvPr id="13" name="Caption: test"/>
          <p:cNvSpPr txBox="1"/>
          <p:nvPr/>
        </p:nvSpPr>
        <p:spPr>
          <a:xfrm>
            <a:off x="6202375" y="4669135"/>
            <a:ext cx="5440680" cy="320040"/>
          </a:xfrm>
          <a:prstGeom prst="rect">
            <a:avLst/>
          </a:prstGeom>
          <a:noFill/>
        </p:spPr>
        <p:txBody>
          <a:bodyPr wrap="square" lIns="0" tIns="0" rIns="0" bIns="0" anchor="t">
            <a:noAutofit/>
          </a:bodyPr>
          <a:lstStyle/>
          <a:p>
            <a:pPr algn="l">
              <a:spcAft>
                <a:spcPts val="0"/>
              </a:spcAft>
            </a:pPr>
            <a:r>
              <a:rPr sz="1600" b="0" i="0">
                <a:solidFill>
                  <a:srgbClr val="5F6B7A"/>
                </a:solidFill>
                <a:latin typeface="Arial"/>
              </a:rPr>
              <a:t>Hidden test: may be faster, in different light</a:t>
            </a:r>
          </a:p>
        </p:txBody>
      </p:sp>
      <p:sp>
        <p:nvSpPr>
          <p:cNvPr id="14" name="Card 1"/>
          <p:cNvSpPr/>
          <p:nvPr/>
        </p:nvSpPr>
        <p:spPr>
          <a:xfrm>
            <a:off x="548640" y="5285232"/>
            <a:ext cx="3520440" cy="100584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1 number"/>
          <p:cNvSpPr txBox="1"/>
          <p:nvPr/>
        </p:nvSpPr>
        <p:spPr>
          <a:xfrm>
            <a:off x="731520" y="5285232"/>
            <a:ext cx="1325880" cy="1005840"/>
          </a:xfrm>
          <a:prstGeom prst="rect">
            <a:avLst/>
          </a:prstGeom>
          <a:noFill/>
        </p:spPr>
        <p:txBody>
          <a:bodyPr wrap="square" lIns="0" tIns="0" rIns="0" bIns="0" anchor="ctr">
            <a:noAutofit/>
          </a:bodyPr>
          <a:lstStyle/>
          <a:p>
            <a:pPr algn="l">
              <a:spcAft>
                <a:spcPts val="0"/>
              </a:spcAft>
            </a:pPr>
            <a:r>
              <a:rPr sz="3400" b="1" i="0">
                <a:solidFill>
                  <a:srgbClr val="2F6FDE"/>
                </a:solidFill>
                <a:latin typeface="Arial"/>
              </a:rPr>
              <a:t>10 Hz</a:t>
            </a:r>
          </a:p>
        </p:txBody>
      </p:sp>
      <p:sp>
        <p:nvSpPr>
          <p:cNvPr id="16" name="Card 1 label"/>
          <p:cNvSpPr txBox="1"/>
          <p:nvPr/>
        </p:nvSpPr>
        <p:spPr>
          <a:xfrm>
            <a:off x="2103120" y="5285232"/>
            <a:ext cx="1828800" cy="1005840"/>
          </a:xfrm>
          <a:prstGeom prst="rect">
            <a:avLst/>
          </a:prstGeom>
          <a:noFill/>
        </p:spPr>
        <p:txBody>
          <a:bodyPr wrap="square" lIns="0" tIns="0" rIns="0" bIns="0" anchor="ctr">
            <a:noAutofit/>
          </a:bodyPr>
          <a:lstStyle/>
          <a:p>
            <a:pPr algn="l">
              <a:spcAft>
                <a:spcPts val="0"/>
              </a:spcAft>
            </a:pPr>
            <a:r>
              <a:rPr sz="1400" b="0" i="0">
                <a:solidFill>
                  <a:srgbClr val="1B1F24"/>
                </a:solidFill>
                <a:latin typeface="Arial"/>
              </a:rPr>
              <a:t>one pose for every camera frame</a:t>
            </a:r>
          </a:p>
        </p:txBody>
      </p:sp>
      <p:sp>
        <p:nvSpPr>
          <p:cNvPr id="17" name="Card 2"/>
          <p:cNvSpPr/>
          <p:nvPr/>
        </p:nvSpPr>
        <p:spPr>
          <a:xfrm>
            <a:off x="4335627" y="5285232"/>
            <a:ext cx="3520440" cy="100584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rd 2 number"/>
          <p:cNvSpPr txBox="1"/>
          <p:nvPr/>
        </p:nvSpPr>
        <p:spPr>
          <a:xfrm>
            <a:off x="4518507" y="5285232"/>
            <a:ext cx="1325880" cy="1005840"/>
          </a:xfrm>
          <a:prstGeom prst="rect">
            <a:avLst/>
          </a:prstGeom>
          <a:noFill/>
        </p:spPr>
        <p:txBody>
          <a:bodyPr wrap="square" lIns="0" tIns="0" rIns="0" bIns="0" anchor="ctr">
            <a:noAutofit/>
          </a:bodyPr>
          <a:lstStyle/>
          <a:p>
            <a:pPr algn="l">
              <a:spcAft>
                <a:spcPts val="0"/>
              </a:spcAft>
            </a:pPr>
            <a:r>
              <a:rPr sz="3400" b="1" i="0">
                <a:solidFill>
                  <a:srgbClr val="2F6FDE"/>
                </a:solidFill>
                <a:latin typeface="Arial"/>
              </a:rPr>
              <a:t>4 m</a:t>
            </a:r>
          </a:p>
        </p:txBody>
      </p:sp>
      <p:sp>
        <p:nvSpPr>
          <p:cNvPr id="19" name="Card 2 label"/>
          <p:cNvSpPr txBox="1"/>
          <p:nvPr/>
        </p:nvSpPr>
        <p:spPr>
          <a:xfrm>
            <a:off x="5890107" y="5285232"/>
            <a:ext cx="1828800" cy="1005840"/>
          </a:xfrm>
          <a:prstGeom prst="rect">
            <a:avLst/>
          </a:prstGeom>
          <a:noFill/>
        </p:spPr>
        <p:txBody>
          <a:bodyPr wrap="square" lIns="0" tIns="0" rIns="0" bIns="0" anchor="ctr">
            <a:noAutofit/>
          </a:bodyPr>
          <a:lstStyle/>
          <a:p>
            <a:pPr algn="l">
              <a:spcAft>
                <a:spcPts val="0"/>
              </a:spcAft>
            </a:pPr>
            <a:r>
              <a:rPr sz="1400" b="0" i="0">
                <a:solidFill>
                  <a:srgbClr val="1B1F24"/>
                </a:solidFill>
                <a:latin typeface="Arial"/>
              </a:rPr>
              <a:t>driven between two frames at 40 m/s</a:t>
            </a:r>
          </a:p>
        </p:txBody>
      </p:sp>
      <p:sp>
        <p:nvSpPr>
          <p:cNvPr id="20" name="Card 3"/>
          <p:cNvSpPr/>
          <p:nvPr/>
        </p:nvSpPr>
        <p:spPr>
          <a:xfrm>
            <a:off x="8122615" y="5285232"/>
            <a:ext cx="3520440" cy="100584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3 number"/>
          <p:cNvSpPr txBox="1"/>
          <p:nvPr/>
        </p:nvSpPr>
        <p:spPr>
          <a:xfrm>
            <a:off x="8305495" y="5285232"/>
            <a:ext cx="1325880" cy="1005840"/>
          </a:xfrm>
          <a:prstGeom prst="rect">
            <a:avLst/>
          </a:prstGeom>
          <a:noFill/>
        </p:spPr>
        <p:txBody>
          <a:bodyPr wrap="square" lIns="0" tIns="0" rIns="0" bIns="0" anchor="ctr">
            <a:noAutofit/>
          </a:bodyPr>
          <a:lstStyle/>
          <a:p>
            <a:pPr algn="l">
              <a:spcAft>
                <a:spcPts val="0"/>
              </a:spcAft>
            </a:pPr>
            <a:r>
              <a:rPr sz="3400" b="1" i="0">
                <a:solidFill>
                  <a:srgbClr val="2F6FDE"/>
                </a:solidFill>
                <a:latin typeface="Arial"/>
              </a:rPr>
              <a:t>&lt; 1 m</a:t>
            </a:r>
          </a:p>
        </p:txBody>
      </p:sp>
      <p:sp>
        <p:nvSpPr>
          <p:cNvPr id="22" name="Card 3 label"/>
          <p:cNvSpPr txBox="1"/>
          <p:nvPr/>
        </p:nvSpPr>
        <p:spPr>
          <a:xfrm>
            <a:off x="9677095" y="5285232"/>
            <a:ext cx="1828800" cy="1005840"/>
          </a:xfrm>
          <a:prstGeom prst="rect">
            <a:avLst/>
          </a:prstGeom>
          <a:noFill/>
        </p:spPr>
        <p:txBody>
          <a:bodyPr wrap="square" lIns="0" tIns="0" rIns="0" bIns="0" anchor="ctr">
            <a:noAutofit/>
          </a:bodyPr>
          <a:lstStyle/>
          <a:p>
            <a:pPr algn="l">
              <a:spcAft>
                <a:spcPts val="0"/>
              </a:spcAft>
            </a:pPr>
            <a:r>
              <a:rPr sz="1400" b="0" i="0">
                <a:solidFill>
                  <a:srgbClr val="1B1F24"/>
                </a:solidFill>
                <a:latin typeface="Arial"/>
              </a:rPr>
              <a:t>sideways accuracy needed to hold a racing 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66928"/>
            <a:ext cx="11094415" cy="685800"/>
          </a:xfrm>
        </p:spPr>
        <p:txBody>
          <a:bodyPr wrap="square" lIns="0" tIns="0" rIns="0" bIns="0" anchor="t">
            <a:noAutofit/>
          </a:bodyPr>
          <a:lstStyle/>
          <a:p>
            <a:pPr algn="l">
              <a:spcAft>
                <a:spcPts val="0"/>
              </a:spcAft>
            </a:pPr>
            <a:r>
              <a:rPr sz="3000" b="1" i="0">
                <a:solidFill>
                  <a:srgbClr val="1B1F24"/>
                </a:solidFill>
                <a:latin typeface="Arial"/>
              </a:rPr>
              <a:t>Recognise the place. Track the motion. Fuse both.</a:t>
            </a:r>
          </a:p>
        </p:txBody>
      </p:sp>
      <p:sp>
        <p:nvSpPr>
          <p:cNvPr id="3" name="Kicker"/>
          <p:cNvSpPr txBox="1"/>
          <p:nvPr/>
        </p:nvSpPr>
        <p:spPr>
          <a:xfrm>
            <a:off x="548640" y="274320"/>
            <a:ext cx="8686800" cy="274320"/>
          </a:xfrm>
          <a:prstGeom prst="rect">
            <a:avLst/>
          </a:prstGeom>
          <a:noFill/>
        </p:spPr>
        <p:txBody>
          <a:bodyPr wrap="square" lIns="0" tIns="0" rIns="0" bIns="0" anchor="t">
            <a:noAutofit/>
          </a:bodyPr>
          <a:lstStyle/>
          <a:p>
            <a:pPr algn="l">
              <a:spcAft>
                <a:spcPts val="0"/>
              </a:spcAft>
            </a:pPr>
            <a:r>
              <a:rPr sz="1400" b="1" i="0">
                <a:solidFill>
                  <a:srgbClr val="2F6FDE"/>
                </a:solidFill>
                <a:latin typeface="Arial"/>
              </a:rPr>
              <a:t>OUR IDEA</a:t>
            </a:r>
          </a:p>
        </p:txBody>
      </p:sp>
      <p:sp>
        <p:nvSpPr>
          <p:cNvPr id="4" name="Footer"/>
          <p:cNvSpPr txBox="1"/>
          <p:nvPr/>
        </p:nvSpPr>
        <p:spPr>
          <a:xfrm>
            <a:off x="548640" y="6473952"/>
            <a:ext cx="8229600" cy="256032"/>
          </a:xfrm>
          <a:prstGeom prst="rect">
            <a:avLst/>
          </a:prstGeom>
          <a:noFill/>
        </p:spPr>
        <p:txBody>
          <a:bodyPr wrap="square" lIns="0" tIns="0" rIns="0" bIns="0" anchor="t">
            <a:noAutofit/>
          </a:bodyPr>
          <a:lstStyle/>
          <a:p>
            <a:pPr algn="l">
              <a:spcAft>
                <a:spcPts val="0"/>
              </a:spcAft>
            </a:pPr>
            <a:r>
              <a:rPr sz="1200" b="0" i="0">
                <a:solidFill>
                  <a:srgbClr val="6B7787"/>
                </a:solidFill>
                <a:latin typeface="Arial"/>
              </a:rPr>
              <a:t>Camera-only localization of a race car  ·  Constructor Labs challenge</a:t>
            </a:r>
          </a:p>
        </p:txBody>
      </p:sp>
      <p:sp>
        <p:nvSpPr>
          <p:cNvPr id="5" name="Slide number"/>
          <p:cNvSpPr txBox="1"/>
          <p:nvPr/>
        </p:nvSpPr>
        <p:spPr>
          <a:xfrm>
            <a:off x="10271455" y="6473952"/>
            <a:ext cx="1371600" cy="256032"/>
          </a:xfrm>
          <a:prstGeom prst="rect">
            <a:avLst/>
          </a:prstGeom>
          <a:noFill/>
        </p:spPr>
        <p:txBody>
          <a:bodyPr wrap="square" lIns="0" tIns="0" rIns="0" bIns="0" anchor="t">
            <a:noAutofit/>
          </a:bodyPr>
          <a:lstStyle/>
          <a:p>
            <a:pPr algn="r">
              <a:spcAft>
                <a:spcPts val="0"/>
              </a:spcAft>
            </a:pPr>
            <a:r>
              <a:rPr sz="1200" b="0" i="0">
                <a:solidFill>
                  <a:srgbClr val="6B7787"/>
                </a:solidFill>
                <a:latin typeface="Arial"/>
              </a:rPr>
              <a:t>2 / 6</a:t>
            </a:r>
          </a:p>
        </p:txBody>
      </p:sp>
      <p:sp>
        <p:nvSpPr>
          <p:cNvPr id="6" name="Lane label: see"/>
          <p:cNvSpPr txBox="1"/>
          <p:nvPr/>
        </p:nvSpPr>
        <p:spPr>
          <a:xfrm>
            <a:off x="548640" y="1371600"/>
            <a:ext cx="6400800" cy="274320"/>
          </a:xfrm>
          <a:prstGeom prst="rect">
            <a:avLst/>
          </a:prstGeom>
          <a:noFill/>
        </p:spPr>
        <p:txBody>
          <a:bodyPr wrap="square" lIns="0" tIns="0" rIns="0" bIns="0" anchor="t">
            <a:noAutofit/>
          </a:bodyPr>
          <a:lstStyle/>
          <a:p>
            <a:pPr algn="l">
              <a:spcAft>
                <a:spcPts val="0"/>
              </a:spcAft>
            </a:pPr>
            <a:r>
              <a:rPr sz="1400" b="1" i="0">
                <a:solidFill>
                  <a:srgbClr val="2F6FDE"/>
                </a:solidFill>
                <a:latin typeface="Arial"/>
              </a:rPr>
              <a:t>WHAT THE CAMERAS SEE</a:t>
            </a:r>
          </a:p>
        </p:txBody>
      </p:sp>
      <p:sp>
        <p:nvSpPr>
          <p:cNvPr id="7" name="Lane label: move"/>
          <p:cNvSpPr txBox="1"/>
          <p:nvPr/>
        </p:nvSpPr>
        <p:spPr>
          <a:xfrm>
            <a:off x="548640" y="3154680"/>
            <a:ext cx="6400800" cy="274320"/>
          </a:xfrm>
          <a:prstGeom prst="rect">
            <a:avLst/>
          </a:prstGeom>
          <a:noFill/>
        </p:spPr>
        <p:txBody>
          <a:bodyPr wrap="square" lIns="0" tIns="0" rIns="0" bIns="0" anchor="t">
            <a:noAutofit/>
          </a:bodyPr>
          <a:lstStyle/>
          <a:p>
            <a:pPr algn="l">
              <a:spcAft>
                <a:spcPts val="0"/>
              </a:spcAft>
            </a:pPr>
            <a:r>
              <a:rPr sz="1400" b="1" i="0">
                <a:solidFill>
                  <a:srgbClr val="C4560F"/>
                </a:solidFill>
                <a:latin typeface="Arial"/>
              </a:rPr>
              <a:t>HOW THE CAR MOVED</a:t>
            </a:r>
          </a:p>
        </p:txBody>
      </p:sp>
      <p:sp>
        <p:nvSpPr>
          <p:cNvPr id="8" name="Block: cameras"/>
          <p:cNvSpPr/>
          <p:nvPr/>
        </p:nvSpPr>
        <p:spPr>
          <a:xfrm>
            <a:off x="548640" y="1691640"/>
            <a:ext cx="1737360" cy="1325880"/>
          </a:xfrm>
          <a:prstGeom prst="roundRect">
            <a:avLst>
              <a:gd name="adj" fmla="val 8000"/>
            </a:avLst>
          </a:prstGeom>
          <a:solidFill>
            <a:srgbClr val="E3EDFC"/>
          </a:solidFill>
          <a:ln w="15875">
            <a:solidFill>
              <a:srgbClr val="2F6F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noAutofit/>
          </a:bodyPr>
          <a:lstStyle/>
          <a:p>
            <a:pPr algn="l">
              <a:spcAft>
                <a:spcPts val="300"/>
              </a:spcAft>
            </a:pPr>
            <a:r>
              <a:rPr sz="1600" b="1" i="0">
                <a:solidFill>
                  <a:srgbClr val="1B1F24"/>
                </a:solidFill>
                <a:latin typeface="Arial"/>
              </a:rPr>
              <a:t>4 cameras</a:t>
            </a:r>
          </a:p>
          <a:p>
            <a:pPr algn="l">
              <a:spcAft>
                <a:spcPts val="0"/>
              </a:spcAft>
            </a:pPr>
            <a:r>
              <a:rPr sz="1400" b="0" i="0">
                <a:solidFill>
                  <a:srgbClr val="1B1F24"/>
                </a:solidFill>
                <a:latin typeface="Arial"/>
              </a:rPr>
              <a:t>Front and side views, cropped to the track</a:t>
            </a:r>
          </a:p>
        </p:txBody>
      </p:sp>
      <p:sp>
        <p:nvSpPr>
          <p:cNvPr id="9" name="Block: place network"/>
          <p:cNvSpPr/>
          <p:nvPr/>
        </p:nvSpPr>
        <p:spPr>
          <a:xfrm>
            <a:off x="2697480" y="1691640"/>
            <a:ext cx="2011680" cy="1325880"/>
          </a:xfrm>
          <a:prstGeom prst="roundRect">
            <a:avLst>
              <a:gd name="adj" fmla="val 8000"/>
            </a:avLst>
          </a:prstGeom>
          <a:solidFill>
            <a:srgbClr val="E3EDFC"/>
          </a:solidFill>
          <a:ln w="15875">
            <a:solidFill>
              <a:srgbClr val="2F6F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noAutofit/>
          </a:bodyPr>
          <a:lstStyle/>
          <a:p>
            <a:pPr algn="l">
              <a:spcAft>
                <a:spcPts val="300"/>
              </a:spcAft>
            </a:pPr>
            <a:r>
              <a:rPr sz="1600" b="1" i="0">
                <a:solidFill>
                  <a:srgbClr val="1B1F24"/>
                </a:solidFill>
                <a:latin typeface="Arial"/>
              </a:rPr>
              <a:t>Place network</a:t>
            </a:r>
          </a:p>
          <a:p>
            <a:pPr algn="l">
              <a:spcAft>
                <a:spcPts val="0"/>
              </a:spcAft>
            </a:pPr>
            <a:r>
              <a:rPr sz="1400" b="0" i="0">
                <a:solidFill>
                  <a:srgbClr val="1B1F24"/>
                </a:solidFill>
                <a:latin typeface="Arial"/>
              </a:rPr>
              <a:t>ResNet-18 turns each view into a 256-number fingerprint</a:t>
            </a:r>
          </a:p>
        </p:txBody>
      </p:sp>
      <p:sp>
        <p:nvSpPr>
          <p:cNvPr id="10" name="Block: map lookup"/>
          <p:cNvSpPr/>
          <p:nvPr/>
        </p:nvSpPr>
        <p:spPr>
          <a:xfrm>
            <a:off x="5120640" y="1691640"/>
            <a:ext cx="2011680" cy="1325880"/>
          </a:xfrm>
          <a:prstGeom prst="roundRect">
            <a:avLst>
              <a:gd name="adj" fmla="val 8000"/>
            </a:avLst>
          </a:prstGeom>
          <a:solidFill>
            <a:srgbClr val="E3EDFC"/>
          </a:solidFill>
          <a:ln w="15875">
            <a:solidFill>
              <a:srgbClr val="2F6FD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noAutofit/>
          </a:bodyPr>
          <a:lstStyle/>
          <a:p>
            <a:pPr algn="l">
              <a:spcAft>
                <a:spcPts val="300"/>
              </a:spcAft>
            </a:pPr>
            <a:r>
              <a:rPr sz="1600" b="1" i="0">
                <a:solidFill>
                  <a:srgbClr val="1B1F24"/>
                </a:solidFill>
                <a:latin typeface="Arial"/>
              </a:rPr>
              <a:t>Map lookup</a:t>
            </a:r>
          </a:p>
          <a:p>
            <a:pPr algn="l">
              <a:spcAft>
                <a:spcPts val="0"/>
              </a:spcAft>
            </a:pPr>
            <a:r>
              <a:rPr sz="1400" b="0" i="0">
                <a:solidFill>
                  <a:srgbClr val="1B1F24"/>
                </a:solidFill>
                <a:latin typeface="Arial"/>
              </a:rPr>
              <a:t>Finds the most similar training views near our estimate</a:t>
            </a:r>
          </a:p>
        </p:txBody>
      </p:sp>
      <p:sp>
        <p:nvSpPr>
          <p:cNvPr id="11" name="Block: telemetry"/>
          <p:cNvSpPr/>
          <p:nvPr/>
        </p:nvSpPr>
        <p:spPr>
          <a:xfrm>
            <a:off x="548640" y="3520440"/>
            <a:ext cx="1737360" cy="1325880"/>
          </a:xfrm>
          <a:prstGeom prst="roundRect">
            <a:avLst>
              <a:gd name="adj" fmla="val 8000"/>
            </a:avLst>
          </a:prstGeom>
          <a:solidFill>
            <a:srgbClr val="FCEBDD"/>
          </a:solidFill>
          <a:ln w="15875">
            <a:solidFill>
              <a:srgbClr val="C4560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noAutofit/>
          </a:bodyPr>
          <a:lstStyle/>
          <a:p>
            <a:pPr algn="l">
              <a:spcAft>
                <a:spcPts val="300"/>
              </a:spcAft>
            </a:pPr>
            <a:r>
              <a:rPr sz="1600" b="1" i="0">
                <a:solidFill>
                  <a:srgbClr val="1B1F24"/>
                </a:solidFill>
                <a:latin typeface="Arial"/>
              </a:rPr>
              <a:t>Car telemetry</a:t>
            </a:r>
          </a:p>
          <a:p>
            <a:pPr algn="l">
              <a:spcAft>
                <a:spcPts val="0"/>
              </a:spcAft>
            </a:pPr>
            <a:r>
              <a:rPr sz="1400" b="0" i="0">
                <a:solidFill>
                  <a:srgbClr val="1B1F24"/>
                </a:solidFill>
                <a:latin typeface="Arial"/>
              </a:rPr>
              <a:t>Speed and turn rate, as the rules allow</a:t>
            </a:r>
          </a:p>
        </p:txBody>
      </p:sp>
      <p:sp>
        <p:nvSpPr>
          <p:cNvPr id="12" name="Block: dead reckoning"/>
          <p:cNvSpPr/>
          <p:nvPr/>
        </p:nvSpPr>
        <p:spPr>
          <a:xfrm>
            <a:off x="2697480" y="3520440"/>
            <a:ext cx="2011680" cy="1325880"/>
          </a:xfrm>
          <a:prstGeom prst="roundRect">
            <a:avLst>
              <a:gd name="adj" fmla="val 8000"/>
            </a:avLst>
          </a:prstGeom>
          <a:solidFill>
            <a:srgbClr val="FCEBDD"/>
          </a:solidFill>
          <a:ln w="15875">
            <a:solidFill>
              <a:srgbClr val="C4560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noAutofit/>
          </a:bodyPr>
          <a:lstStyle/>
          <a:p>
            <a:pPr algn="l">
              <a:spcAft>
                <a:spcPts val="300"/>
              </a:spcAft>
            </a:pPr>
            <a:r>
              <a:rPr sz="1600" b="1" i="0">
                <a:solidFill>
                  <a:srgbClr val="1B1F24"/>
                </a:solidFill>
                <a:latin typeface="Arial"/>
              </a:rPr>
              <a:t>Dead reckoning</a:t>
            </a:r>
          </a:p>
          <a:p>
            <a:pPr algn="l">
              <a:spcAft>
                <a:spcPts val="0"/>
              </a:spcAft>
            </a:pPr>
            <a:r>
              <a:rPr sz="1400" b="0" i="0">
                <a:solidFill>
                  <a:srgbClr val="1B1F24"/>
                </a:solidFill>
                <a:latin typeface="Arial"/>
              </a:rPr>
              <a:t>Adds up distance and turning since the last frame</a:t>
            </a:r>
          </a:p>
        </p:txBody>
      </p:sp>
      <p:sp>
        <p:nvSpPr>
          <p:cNvPr id="13" name="Block: cross-check"/>
          <p:cNvSpPr/>
          <p:nvPr/>
        </p:nvSpPr>
        <p:spPr>
          <a:xfrm>
            <a:off x="5120640" y="3520440"/>
            <a:ext cx="2011680" cy="1325880"/>
          </a:xfrm>
          <a:prstGeom prst="roundRect">
            <a:avLst>
              <a:gd name="adj" fmla="val 8000"/>
            </a:avLst>
          </a:prstGeom>
          <a:solidFill>
            <a:srgbClr val="FCEBDD"/>
          </a:solidFill>
          <a:ln w="15875">
            <a:solidFill>
              <a:srgbClr val="C4560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noAutofit/>
          </a:bodyPr>
          <a:lstStyle/>
          <a:p>
            <a:pPr algn="l">
              <a:spcAft>
                <a:spcPts val="300"/>
              </a:spcAft>
            </a:pPr>
            <a:r>
              <a:rPr sz="1600" b="1" i="0">
                <a:solidFill>
                  <a:srgbClr val="1B1F24"/>
                </a:solidFill>
                <a:latin typeface="Arial"/>
              </a:rPr>
              <a:t>Cross-check</a:t>
            </a:r>
          </a:p>
          <a:p>
            <a:pPr algn="l">
              <a:spcAft>
                <a:spcPts val="0"/>
              </a:spcAft>
            </a:pPr>
            <a:r>
              <a:rPr sz="1400" b="0" i="0">
                <a:solidFill>
                  <a:srgbClr val="1B1F24"/>
                </a:solidFill>
                <a:latin typeface="Arial"/>
              </a:rPr>
              <a:t>Motion learned from camera pairs is the backup</a:t>
            </a:r>
          </a:p>
        </p:txBody>
      </p:sp>
      <p:sp>
        <p:nvSpPr>
          <p:cNvPr id="14" name="Block: Kalman filter"/>
          <p:cNvSpPr/>
          <p:nvPr/>
        </p:nvSpPr>
        <p:spPr>
          <a:xfrm>
            <a:off x="7543800" y="1691640"/>
            <a:ext cx="2103120" cy="3154679"/>
          </a:xfrm>
          <a:prstGeom prst="roundRect">
            <a:avLst>
              <a:gd name="adj" fmla="val 8000"/>
            </a:avLst>
          </a:prstGeom>
          <a:solidFill>
            <a:srgbClr val="DDF2E7"/>
          </a:solidFill>
          <a:ln w="15875">
            <a:solidFill>
              <a:srgbClr val="1E8A5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noAutofit/>
          </a:bodyPr>
          <a:lstStyle/>
          <a:p>
            <a:pPr algn="l">
              <a:spcAft>
                <a:spcPts val="800"/>
              </a:spcAft>
            </a:pPr>
            <a:r>
              <a:rPr sz="2000" b="1" i="0">
                <a:solidFill>
                  <a:srgbClr val="1B1F24"/>
                </a:solidFill>
                <a:latin typeface="Arial"/>
              </a:rPr>
              <a:t>Kalman filter</a:t>
            </a:r>
          </a:p>
          <a:p>
            <a:pPr algn="l">
              <a:spcAft>
                <a:spcPts val="800"/>
              </a:spcAft>
            </a:pPr>
            <a:r>
              <a:rPr sz="1600" b="0" i="0">
                <a:solidFill>
                  <a:srgbClr val="1B1F24"/>
                </a:solidFill>
                <a:latin typeface="Arial"/>
              </a:rPr>
              <a:t>Predicts with the motion, then corrects with the map match.</a:t>
            </a:r>
          </a:p>
          <a:p>
            <a:pPr algn="l">
              <a:spcAft>
                <a:spcPts val="0"/>
              </a:spcAft>
            </a:pPr>
            <a:r>
              <a:rPr sz="1600" b="0" i="0">
                <a:solidFill>
                  <a:srgbClr val="1B1F24"/>
                </a:solidFill>
                <a:latin typeface="Arial"/>
              </a:rPr>
              <a:t>Each is weighted by how much it is trusted.</a:t>
            </a:r>
          </a:p>
        </p:txBody>
      </p:sp>
      <p:sp>
        <p:nvSpPr>
          <p:cNvPr id="15" name="Block: output pose"/>
          <p:cNvSpPr/>
          <p:nvPr/>
        </p:nvSpPr>
        <p:spPr>
          <a:xfrm>
            <a:off x="10058400" y="2674620"/>
            <a:ext cx="1584655" cy="1188720"/>
          </a:xfrm>
          <a:prstGeom prst="roundRect">
            <a:avLst>
              <a:gd name="adj" fmla="val 8000"/>
            </a:avLst>
          </a:prstGeom>
          <a:solidFill>
            <a:srgbClr val="1B1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noAutofit/>
          </a:bodyPr>
          <a:lstStyle/>
          <a:p>
            <a:pPr algn="ctr">
              <a:spcAft>
                <a:spcPts val="300"/>
              </a:spcAft>
            </a:pPr>
            <a:r>
              <a:rPr sz="2000" b="1" i="0">
                <a:solidFill>
                  <a:srgbClr val="FFFFFF"/>
                </a:solidFill>
                <a:latin typeface="Arial"/>
              </a:rPr>
              <a:t>Pose</a:t>
            </a:r>
          </a:p>
          <a:p>
            <a:pPr algn="ctr">
              <a:spcAft>
                <a:spcPts val="0"/>
              </a:spcAft>
            </a:pPr>
            <a:r>
              <a:rPr sz="1400" b="0" i="0">
                <a:solidFill>
                  <a:srgbClr val="FFFFFF"/>
                </a:solidFill>
                <a:latin typeface="Arial"/>
              </a:rPr>
              <a:t>x, y, heading, 10 times a second</a:t>
            </a:r>
          </a:p>
        </p:txBody>
      </p:sp>
      <p:cxnSp>
        <p:nvCxnSpPr>
          <p:cNvPr id="16" name="Connector 15"/>
          <p:cNvCxnSpPr/>
          <p:nvPr/>
        </p:nvCxnSpPr>
        <p:spPr>
          <a:xfrm>
            <a:off x="2322576" y="2354580"/>
            <a:ext cx="338328" cy="0"/>
          </a:xfrm>
          <a:prstGeom prst="line">
            <a:avLst/>
          </a:prstGeom>
          <a:ln w="28575">
            <a:solidFill>
              <a:srgbClr val="2F6FD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745736" y="2354580"/>
            <a:ext cx="338328" cy="0"/>
          </a:xfrm>
          <a:prstGeom prst="line">
            <a:avLst/>
          </a:prstGeom>
          <a:ln w="28575">
            <a:solidFill>
              <a:srgbClr val="2F6FD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168896" y="2354580"/>
            <a:ext cx="338328" cy="0"/>
          </a:xfrm>
          <a:prstGeom prst="line">
            <a:avLst/>
          </a:prstGeom>
          <a:ln w="28575">
            <a:solidFill>
              <a:srgbClr val="2F6FD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322576" y="4183380"/>
            <a:ext cx="338328" cy="0"/>
          </a:xfrm>
          <a:prstGeom prst="line">
            <a:avLst/>
          </a:prstGeom>
          <a:ln w="28575">
            <a:solidFill>
              <a:srgbClr val="C4560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745736" y="4183380"/>
            <a:ext cx="338328" cy="0"/>
          </a:xfrm>
          <a:prstGeom prst="line">
            <a:avLst/>
          </a:prstGeom>
          <a:ln w="28575">
            <a:solidFill>
              <a:srgbClr val="C4560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168896" y="4183380"/>
            <a:ext cx="338328" cy="0"/>
          </a:xfrm>
          <a:prstGeom prst="line">
            <a:avLst/>
          </a:prstGeom>
          <a:ln w="28575">
            <a:solidFill>
              <a:srgbClr val="C4560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83496" y="3268980"/>
            <a:ext cx="338328" cy="0"/>
          </a:xfrm>
          <a:prstGeom prst="line">
            <a:avLst/>
          </a:prstGeom>
          <a:ln w="38100">
            <a:solidFill>
              <a:srgbClr val="1E8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Definition: Fingerprint"/>
          <p:cNvSpPr/>
          <p:nvPr/>
        </p:nvSpPr>
        <p:spPr>
          <a:xfrm>
            <a:off x="548640" y="5074920"/>
            <a:ext cx="3545738" cy="118872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tIns="91440" rIns="137160" bIns="54864">
            <a:noAutofit/>
          </a:bodyPr>
          <a:lstStyle/>
          <a:p>
            <a:pPr algn="l">
              <a:spcAft>
                <a:spcPts val="300"/>
              </a:spcAft>
            </a:pPr>
            <a:r>
              <a:rPr sz="1400" b="1" i="0">
                <a:solidFill>
                  <a:srgbClr val="5F6B7A"/>
                </a:solidFill>
                <a:latin typeface="Arial"/>
              </a:rPr>
              <a:t>In plain words: Fingerprint</a:t>
            </a:r>
          </a:p>
          <a:p>
            <a:pPr algn="l">
              <a:spcAft>
                <a:spcPts val="0"/>
              </a:spcAft>
            </a:pPr>
            <a:r>
              <a:rPr sz="1400" b="0" i="0">
                <a:solidFill>
                  <a:srgbClr val="1B1F24"/>
                </a:solidFill>
                <a:latin typeface="Arial"/>
              </a:rPr>
              <a:t>A list of 256 numbers describing a view. Similar views give similar numbers.</a:t>
            </a:r>
          </a:p>
        </p:txBody>
      </p:sp>
      <p:sp>
        <p:nvSpPr>
          <p:cNvPr id="24" name="Definition: Map"/>
          <p:cNvSpPr/>
          <p:nvPr/>
        </p:nvSpPr>
        <p:spPr>
          <a:xfrm>
            <a:off x="4322978" y="5074920"/>
            <a:ext cx="3545738" cy="118872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tIns="91440" rIns="137160" bIns="54864">
            <a:noAutofit/>
          </a:bodyPr>
          <a:lstStyle/>
          <a:p>
            <a:pPr algn="l">
              <a:spcAft>
                <a:spcPts val="300"/>
              </a:spcAft>
            </a:pPr>
            <a:r>
              <a:rPr sz="1400" b="1" i="0">
                <a:solidFill>
                  <a:srgbClr val="5F6B7A"/>
                </a:solidFill>
                <a:latin typeface="Arial"/>
              </a:rPr>
              <a:t>In plain words: Map</a:t>
            </a:r>
          </a:p>
          <a:p>
            <a:pPr algn="l">
              <a:spcAft>
                <a:spcPts val="0"/>
              </a:spcAft>
            </a:pPr>
            <a:r>
              <a:rPr sz="1400" b="0" i="0">
                <a:solidFill>
                  <a:srgbClr val="1B1F24"/>
                </a:solidFill>
                <a:latin typeface="Arial"/>
              </a:rPr>
              <a:t>Every training frame stored with its fingerprint and its known position, night and synthetic daylight.</a:t>
            </a:r>
          </a:p>
        </p:txBody>
      </p:sp>
      <p:sp>
        <p:nvSpPr>
          <p:cNvPr id="25" name="Definition: Kalman filter"/>
          <p:cNvSpPr/>
          <p:nvPr/>
        </p:nvSpPr>
        <p:spPr>
          <a:xfrm>
            <a:off x="8097316" y="5074920"/>
            <a:ext cx="3545738" cy="118872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tIns="91440" rIns="137160" bIns="54864">
            <a:noAutofit/>
          </a:bodyPr>
          <a:lstStyle/>
          <a:p>
            <a:pPr algn="l">
              <a:spcAft>
                <a:spcPts val="300"/>
              </a:spcAft>
            </a:pPr>
            <a:r>
              <a:rPr sz="1400" b="1" i="0">
                <a:solidFill>
                  <a:srgbClr val="5F6B7A"/>
                </a:solidFill>
                <a:latin typeface="Arial"/>
              </a:rPr>
              <a:t>In plain words: Kalman filter</a:t>
            </a:r>
          </a:p>
          <a:p>
            <a:pPr algn="l">
              <a:spcAft>
                <a:spcPts val="0"/>
              </a:spcAft>
            </a:pPr>
            <a:r>
              <a:rPr sz="1400" b="0" i="0">
                <a:solidFill>
                  <a:srgbClr val="1B1F24"/>
                </a:solidFill>
                <a:latin typeface="Arial"/>
              </a:rPr>
              <a:t>A standard way to blend a prediction with a measurement, trusting each by its confidence.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66928"/>
            <a:ext cx="11094415" cy="685800"/>
          </a:xfrm>
        </p:spPr>
        <p:txBody>
          <a:bodyPr wrap="square" lIns="0" tIns="0" rIns="0" bIns="0" anchor="t">
            <a:noAutofit/>
          </a:bodyPr>
          <a:lstStyle/>
          <a:p>
            <a:pPr algn="l">
              <a:spcAft>
                <a:spcPts val="0"/>
              </a:spcAft>
            </a:pPr>
            <a:r>
              <a:rPr sz="3000" b="1" i="0">
                <a:solidFill>
                  <a:srgbClr val="1B1F24"/>
                </a:solidFill>
                <a:latin typeface="Arial"/>
              </a:rPr>
              <a:t>Each known difficulty gets a specific answer</a:t>
            </a:r>
          </a:p>
        </p:txBody>
      </p:sp>
      <p:sp>
        <p:nvSpPr>
          <p:cNvPr id="3" name="Kicker"/>
          <p:cNvSpPr txBox="1"/>
          <p:nvPr/>
        </p:nvSpPr>
        <p:spPr>
          <a:xfrm>
            <a:off x="548640" y="274320"/>
            <a:ext cx="8686800" cy="274320"/>
          </a:xfrm>
          <a:prstGeom prst="rect">
            <a:avLst/>
          </a:prstGeom>
          <a:noFill/>
        </p:spPr>
        <p:txBody>
          <a:bodyPr wrap="square" lIns="0" tIns="0" rIns="0" bIns="0" anchor="t">
            <a:noAutofit/>
          </a:bodyPr>
          <a:lstStyle/>
          <a:p>
            <a:pPr algn="l">
              <a:spcAft>
                <a:spcPts val="0"/>
              </a:spcAft>
            </a:pPr>
            <a:r>
              <a:rPr sz="1400" b="1" i="0">
                <a:solidFill>
                  <a:srgbClr val="2F6FDE"/>
                </a:solidFill>
                <a:latin typeface="Arial"/>
              </a:rPr>
              <a:t>HOW IT HANDLES THE HARD PARTS</a:t>
            </a:r>
          </a:p>
        </p:txBody>
      </p:sp>
      <p:sp>
        <p:nvSpPr>
          <p:cNvPr id="4" name="Footer"/>
          <p:cNvSpPr txBox="1"/>
          <p:nvPr/>
        </p:nvSpPr>
        <p:spPr>
          <a:xfrm>
            <a:off x="548640" y="6473952"/>
            <a:ext cx="8229600" cy="256032"/>
          </a:xfrm>
          <a:prstGeom prst="rect">
            <a:avLst/>
          </a:prstGeom>
          <a:noFill/>
        </p:spPr>
        <p:txBody>
          <a:bodyPr wrap="square" lIns="0" tIns="0" rIns="0" bIns="0" anchor="t">
            <a:noAutofit/>
          </a:bodyPr>
          <a:lstStyle/>
          <a:p>
            <a:pPr algn="l">
              <a:spcAft>
                <a:spcPts val="0"/>
              </a:spcAft>
            </a:pPr>
            <a:r>
              <a:rPr sz="1200" b="0" i="0">
                <a:solidFill>
                  <a:srgbClr val="6B7787"/>
                </a:solidFill>
                <a:latin typeface="Arial"/>
              </a:rPr>
              <a:t>Camera-only localization of a race car  ·  Constructor Labs challenge</a:t>
            </a:r>
          </a:p>
        </p:txBody>
      </p:sp>
      <p:sp>
        <p:nvSpPr>
          <p:cNvPr id="5" name="Slide number"/>
          <p:cNvSpPr txBox="1"/>
          <p:nvPr/>
        </p:nvSpPr>
        <p:spPr>
          <a:xfrm>
            <a:off x="10271455" y="6473952"/>
            <a:ext cx="1371600" cy="256032"/>
          </a:xfrm>
          <a:prstGeom prst="rect">
            <a:avLst/>
          </a:prstGeom>
          <a:noFill/>
        </p:spPr>
        <p:txBody>
          <a:bodyPr wrap="square" lIns="0" tIns="0" rIns="0" bIns="0" anchor="t">
            <a:noAutofit/>
          </a:bodyPr>
          <a:lstStyle/>
          <a:p>
            <a:pPr algn="r">
              <a:spcAft>
                <a:spcPts val="0"/>
              </a:spcAft>
            </a:pPr>
            <a:r>
              <a:rPr sz="1200" b="0" i="0">
                <a:solidFill>
                  <a:srgbClr val="6B7787"/>
                </a:solidFill>
                <a:latin typeface="Arial"/>
              </a:rPr>
              <a:t>3 / 6</a:t>
            </a:r>
          </a:p>
        </p:txBody>
      </p:sp>
      <p:sp>
        <p:nvSpPr>
          <p:cNvPr id="6" name="Column header: the difficulty"/>
          <p:cNvSpPr txBox="1"/>
          <p:nvPr/>
        </p:nvSpPr>
        <p:spPr>
          <a:xfrm>
            <a:off x="548640" y="1353312"/>
            <a:ext cx="3474720" cy="274320"/>
          </a:xfrm>
          <a:prstGeom prst="rect">
            <a:avLst/>
          </a:prstGeom>
          <a:noFill/>
        </p:spPr>
        <p:txBody>
          <a:bodyPr wrap="square" lIns="0" tIns="0" rIns="0" bIns="0" anchor="t">
            <a:noAutofit/>
          </a:bodyPr>
          <a:lstStyle/>
          <a:p>
            <a:pPr algn="l">
              <a:spcAft>
                <a:spcPts val="0"/>
              </a:spcAft>
            </a:pPr>
            <a:r>
              <a:rPr sz="1400" b="1" i="0">
                <a:solidFill>
                  <a:srgbClr val="5F6B7A"/>
                </a:solidFill>
                <a:latin typeface="Arial"/>
              </a:rPr>
              <a:t>THE DIFFICULTY</a:t>
            </a:r>
          </a:p>
        </p:txBody>
      </p:sp>
      <p:sp>
        <p:nvSpPr>
          <p:cNvPr id="7" name="Column header: our answer"/>
          <p:cNvSpPr txBox="1"/>
          <p:nvPr/>
        </p:nvSpPr>
        <p:spPr>
          <a:xfrm>
            <a:off x="4617720" y="1353312"/>
            <a:ext cx="4937760" cy="274320"/>
          </a:xfrm>
          <a:prstGeom prst="rect">
            <a:avLst/>
          </a:prstGeom>
          <a:noFill/>
        </p:spPr>
        <p:txBody>
          <a:bodyPr wrap="square" lIns="0" tIns="0" rIns="0" bIns="0" anchor="t">
            <a:noAutofit/>
          </a:bodyPr>
          <a:lstStyle/>
          <a:p>
            <a:pPr algn="l">
              <a:spcAft>
                <a:spcPts val="0"/>
              </a:spcAft>
            </a:pPr>
            <a:r>
              <a:rPr sz="1400" b="1" i="0">
                <a:solidFill>
                  <a:srgbClr val="5F6B7A"/>
                </a:solidFill>
                <a:latin typeface="Arial"/>
              </a:rPr>
              <a:t>OUR ANSWER</a:t>
            </a:r>
          </a:p>
        </p:txBody>
      </p:sp>
      <p:sp>
        <p:nvSpPr>
          <p:cNvPr id="8" name="Column header: when it runs"/>
          <p:cNvSpPr txBox="1"/>
          <p:nvPr/>
        </p:nvSpPr>
        <p:spPr>
          <a:xfrm>
            <a:off x="9829800" y="1353312"/>
            <a:ext cx="1813255" cy="274320"/>
          </a:xfrm>
          <a:prstGeom prst="rect">
            <a:avLst/>
          </a:prstGeom>
          <a:noFill/>
        </p:spPr>
        <p:txBody>
          <a:bodyPr wrap="square" lIns="0" tIns="0" rIns="0" bIns="0" anchor="t">
            <a:noAutofit/>
          </a:bodyPr>
          <a:lstStyle/>
          <a:p>
            <a:pPr algn="l">
              <a:spcAft>
                <a:spcPts val="0"/>
              </a:spcAft>
            </a:pPr>
            <a:r>
              <a:rPr sz="1400" b="1" i="0">
                <a:solidFill>
                  <a:srgbClr val="5F6B7A"/>
                </a:solidFill>
                <a:latin typeface="Arial"/>
              </a:rPr>
              <a:t>WHEN IT RUNS</a:t>
            </a:r>
          </a:p>
        </p:txBody>
      </p:sp>
      <p:sp>
        <p:nvSpPr>
          <p:cNvPr id="9" name="Difficulty 1"/>
          <p:cNvSpPr/>
          <p:nvPr/>
        </p:nvSpPr>
        <p:spPr>
          <a:xfrm>
            <a:off x="548640" y="1691640"/>
            <a:ext cx="3474720" cy="960120"/>
          </a:xfrm>
          <a:prstGeom prst="roundRect">
            <a:avLst>
              <a:gd name="adj" fmla="val 8000"/>
            </a:avLst>
          </a:prstGeom>
          <a:solidFill>
            <a:srgbClr val="FBE4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noAutofit/>
          </a:bodyPr>
          <a:lstStyle/>
          <a:p>
            <a:pPr algn="l">
              <a:spcAft>
                <a:spcPts val="0"/>
              </a:spcAft>
            </a:pPr>
            <a:r>
              <a:rPr sz="1600" b="1" i="0">
                <a:solidFill>
                  <a:srgbClr val="1B1F24"/>
                </a:solidFill>
                <a:latin typeface="Arial"/>
              </a:rPr>
              <a:t>Trained at night, tested in unknown light</a:t>
            </a:r>
          </a:p>
        </p:txBody>
      </p:sp>
      <p:cxnSp>
        <p:nvCxnSpPr>
          <p:cNvPr id="10" name="Connector 9"/>
          <p:cNvCxnSpPr/>
          <p:nvPr/>
        </p:nvCxnSpPr>
        <p:spPr>
          <a:xfrm>
            <a:off x="4096511" y="2171700"/>
            <a:ext cx="448057" cy="0"/>
          </a:xfrm>
          <a:prstGeom prst="line">
            <a:avLst/>
          </a:prstGeom>
          <a:ln w="28575">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Answer 1"/>
          <p:cNvSpPr/>
          <p:nvPr/>
        </p:nvSpPr>
        <p:spPr>
          <a:xfrm>
            <a:off x="4617720" y="1691640"/>
            <a:ext cx="4937760" cy="960120"/>
          </a:xfrm>
          <a:prstGeom prst="roundRect">
            <a:avLst>
              <a:gd name="adj" fmla="val 8000"/>
            </a:avLst>
          </a:prstGeom>
          <a:solidFill>
            <a:srgbClr val="E3ED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noAutofit/>
          </a:bodyPr>
          <a:lstStyle/>
          <a:p>
            <a:pPr algn="l">
              <a:spcAft>
                <a:spcPts val="200"/>
              </a:spcAft>
            </a:pPr>
            <a:r>
              <a:rPr sz="1600" b="1" i="0">
                <a:solidFill>
                  <a:srgbClr val="1B1F24"/>
                </a:solidFill>
                <a:latin typeface="Arial"/>
              </a:rPr>
              <a:t>Synthetic daylight for training</a:t>
            </a:r>
          </a:p>
          <a:p>
            <a:pPr algn="l">
              <a:spcAft>
                <a:spcPts val="0"/>
              </a:spcAft>
            </a:pPr>
            <a:r>
              <a:rPr sz="1400" b="0" i="0">
                <a:solidFill>
                  <a:srgbClr val="1B1F24"/>
                </a:solidFill>
                <a:latin typeface="Arial"/>
              </a:rPr>
              <a:t>A CycleGAN turns night frames into daylight look-alikes; the map stores both.</a:t>
            </a:r>
          </a:p>
        </p:txBody>
      </p:sp>
      <p:sp>
        <p:nvSpPr>
          <p:cNvPr id="12" name="Tag 1"/>
          <p:cNvSpPr/>
          <p:nvPr/>
        </p:nvSpPr>
        <p:spPr>
          <a:xfrm>
            <a:off x="9829800" y="1988819"/>
            <a:ext cx="1813255" cy="365760"/>
          </a:xfrm>
          <a:prstGeom prst="roundRect">
            <a:avLst>
              <a:gd name="adj" fmla="val 50000"/>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noAutofit/>
          </a:bodyPr>
          <a:lstStyle/>
          <a:p>
            <a:pPr algn="ctr">
              <a:spcAft>
                <a:spcPts val="0"/>
              </a:spcAft>
            </a:pPr>
            <a:r>
              <a:rPr sz="1400" b="1" i="0">
                <a:solidFill>
                  <a:srgbClr val="5F6B7A"/>
                </a:solidFill>
                <a:latin typeface="Arial"/>
              </a:rPr>
              <a:t>training only</a:t>
            </a:r>
          </a:p>
        </p:txBody>
      </p:sp>
      <p:sp>
        <p:nvSpPr>
          <p:cNvPr id="13" name="Difficulty 2"/>
          <p:cNvSpPr/>
          <p:nvPr/>
        </p:nvSpPr>
        <p:spPr>
          <a:xfrm>
            <a:off x="548640" y="2743200"/>
            <a:ext cx="3474720" cy="960120"/>
          </a:xfrm>
          <a:prstGeom prst="roundRect">
            <a:avLst>
              <a:gd name="adj" fmla="val 8000"/>
            </a:avLst>
          </a:prstGeom>
          <a:solidFill>
            <a:srgbClr val="FBE4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noAutofit/>
          </a:bodyPr>
          <a:lstStyle/>
          <a:p>
            <a:pPr algn="l">
              <a:spcAft>
                <a:spcPts val="0"/>
              </a:spcAft>
            </a:pPr>
            <a:r>
              <a:rPr sz="1600" b="1" i="0">
                <a:solidFill>
                  <a:srgbClr val="1B1F24"/>
                </a:solidFill>
                <a:latin typeface="Arial"/>
              </a:rPr>
              <a:t>Look-alike straights</a:t>
            </a:r>
          </a:p>
        </p:txBody>
      </p:sp>
      <p:cxnSp>
        <p:nvCxnSpPr>
          <p:cNvPr id="14" name="Connector 13"/>
          <p:cNvCxnSpPr/>
          <p:nvPr/>
        </p:nvCxnSpPr>
        <p:spPr>
          <a:xfrm>
            <a:off x="4096511" y="3223260"/>
            <a:ext cx="448057" cy="0"/>
          </a:xfrm>
          <a:prstGeom prst="line">
            <a:avLst/>
          </a:prstGeom>
          <a:ln w="28575">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Answer 2"/>
          <p:cNvSpPr/>
          <p:nvPr/>
        </p:nvSpPr>
        <p:spPr>
          <a:xfrm>
            <a:off x="4617720" y="2743200"/>
            <a:ext cx="4937760" cy="960120"/>
          </a:xfrm>
          <a:prstGeom prst="roundRect">
            <a:avLst>
              <a:gd name="adj" fmla="val 8000"/>
            </a:avLst>
          </a:prstGeom>
          <a:solidFill>
            <a:srgbClr val="E3ED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noAutofit/>
          </a:bodyPr>
          <a:lstStyle/>
          <a:p>
            <a:pPr algn="l">
              <a:spcAft>
                <a:spcPts val="200"/>
              </a:spcAft>
            </a:pPr>
            <a:r>
              <a:rPr sz="1600" b="1" i="0">
                <a:solidFill>
                  <a:srgbClr val="1B1F24"/>
                </a:solidFill>
                <a:latin typeface="Arial"/>
              </a:rPr>
              <a:t>Learn places, then trust by similarity</a:t>
            </a:r>
          </a:p>
          <a:p>
            <a:pPr algn="l">
              <a:spcAft>
                <a:spcPts val="0"/>
              </a:spcAft>
            </a:pPr>
            <a:r>
              <a:rPr sz="1400" b="0" i="0">
                <a:solidFill>
                  <a:srgbClr val="1B1F24"/>
                </a:solidFill>
                <a:latin typeface="Arial"/>
              </a:rPr>
              <a:t>Training pairs show one place on different laps. Weak matches count less; only nearby matches are averaged.</a:t>
            </a:r>
          </a:p>
        </p:txBody>
      </p:sp>
      <p:sp>
        <p:nvSpPr>
          <p:cNvPr id="16" name="Tag 2"/>
          <p:cNvSpPr/>
          <p:nvPr/>
        </p:nvSpPr>
        <p:spPr>
          <a:xfrm>
            <a:off x="9829800" y="3040379"/>
            <a:ext cx="1813255" cy="365760"/>
          </a:xfrm>
          <a:prstGeom prst="roundRect">
            <a:avLst>
              <a:gd name="adj" fmla="val 50000"/>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noAutofit/>
          </a:bodyPr>
          <a:lstStyle/>
          <a:p>
            <a:pPr algn="ctr">
              <a:spcAft>
                <a:spcPts val="0"/>
              </a:spcAft>
            </a:pPr>
            <a:r>
              <a:rPr sz="1400" b="1" i="0">
                <a:solidFill>
                  <a:srgbClr val="5F6B7A"/>
                </a:solidFill>
                <a:latin typeface="Arial"/>
              </a:rPr>
              <a:t>training + filter</a:t>
            </a:r>
          </a:p>
        </p:txBody>
      </p:sp>
      <p:sp>
        <p:nvSpPr>
          <p:cNvPr id="17" name="Difficulty 3"/>
          <p:cNvSpPr/>
          <p:nvPr/>
        </p:nvSpPr>
        <p:spPr>
          <a:xfrm>
            <a:off x="548640" y="3794760"/>
            <a:ext cx="3474720" cy="960120"/>
          </a:xfrm>
          <a:prstGeom prst="roundRect">
            <a:avLst>
              <a:gd name="adj" fmla="val 8000"/>
            </a:avLst>
          </a:prstGeom>
          <a:solidFill>
            <a:srgbClr val="FBE4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noAutofit/>
          </a:bodyPr>
          <a:lstStyle/>
          <a:p>
            <a:pPr algn="l">
              <a:spcAft>
                <a:spcPts val="0"/>
              </a:spcAft>
            </a:pPr>
            <a:r>
              <a:rPr sz="1600" b="1" i="0">
                <a:solidFill>
                  <a:srgbClr val="1B1F24"/>
                </a:solidFill>
                <a:latin typeface="Arial"/>
              </a:rPr>
              <a:t>4 m between frames, blur, cameras out of sync</a:t>
            </a:r>
          </a:p>
        </p:txBody>
      </p:sp>
      <p:cxnSp>
        <p:nvCxnSpPr>
          <p:cNvPr id="18" name="Connector 17"/>
          <p:cNvCxnSpPr/>
          <p:nvPr/>
        </p:nvCxnSpPr>
        <p:spPr>
          <a:xfrm>
            <a:off x="4096511" y="4274820"/>
            <a:ext cx="448057" cy="0"/>
          </a:xfrm>
          <a:prstGeom prst="line">
            <a:avLst/>
          </a:prstGeom>
          <a:ln w="28575">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Answer 3"/>
          <p:cNvSpPr/>
          <p:nvPr/>
        </p:nvSpPr>
        <p:spPr>
          <a:xfrm>
            <a:off x="4617720" y="3794760"/>
            <a:ext cx="4937760" cy="960120"/>
          </a:xfrm>
          <a:prstGeom prst="roundRect">
            <a:avLst>
              <a:gd name="adj" fmla="val 8000"/>
            </a:avLst>
          </a:prstGeom>
          <a:solidFill>
            <a:srgbClr val="E3ED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noAutofit/>
          </a:bodyPr>
          <a:lstStyle/>
          <a:p>
            <a:pPr algn="l">
              <a:spcAft>
                <a:spcPts val="200"/>
              </a:spcAft>
            </a:pPr>
            <a:r>
              <a:rPr sz="1600" b="1" i="0">
                <a:solidFill>
                  <a:srgbClr val="1B1F24"/>
                </a:solidFill>
                <a:latin typeface="Arial"/>
              </a:rPr>
              <a:t>Strictly causal camera sync</a:t>
            </a:r>
          </a:p>
          <a:p>
            <a:pPr algn="l">
              <a:spcAft>
                <a:spcPts val="0"/>
              </a:spcAft>
            </a:pPr>
            <a:r>
              <a:rPr sz="1400" b="0" i="0">
                <a:solidFill>
                  <a:srgbClr val="1B1F24"/>
                </a:solidFill>
                <a:latin typeface="Arial"/>
              </a:rPr>
              <a:t>Each camera supplies its newest image stamped no later than now. A learned gate weights the four views.</a:t>
            </a:r>
          </a:p>
        </p:txBody>
      </p:sp>
      <p:sp>
        <p:nvSpPr>
          <p:cNvPr id="20" name="Tag 3"/>
          <p:cNvSpPr/>
          <p:nvPr/>
        </p:nvSpPr>
        <p:spPr>
          <a:xfrm>
            <a:off x="9829800" y="4091940"/>
            <a:ext cx="1813255" cy="365760"/>
          </a:xfrm>
          <a:prstGeom prst="roundRect">
            <a:avLst>
              <a:gd name="adj" fmla="val 50000"/>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noAutofit/>
          </a:bodyPr>
          <a:lstStyle/>
          <a:p>
            <a:pPr algn="ctr">
              <a:spcAft>
                <a:spcPts val="0"/>
              </a:spcAft>
            </a:pPr>
            <a:r>
              <a:rPr sz="1400" b="1" i="0">
                <a:solidFill>
                  <a:srgbClr val="5F6B7A"/>
                </a:solidFill>
                <a:latin typeface="Arial"/>
              </a:rPr>
              <a:t>every frame</a:t>
            </a:r>
          </a:p>
        </p:txBody>
      </p:sp>
      <p:sp>
        <p:nvSpPr>
          <p:cNvPr id="21" name="Difficulty 4"/>
          <p:cNvSpPr/>
          <p:nvPr/>
        </p:nvSpPr>
        <p:spPr>
          <a:xfrm>
            <a:off x="548640" y="4846320"/>
            <a:ext cx="3474720" cy="960120"/>
          </a:xfrm>
          <a:prstGeom prst="roundRect">
            <a:avLst>
              <a:gd name="adj" fmla="val 8000"/>
            </a:avLst>
          </a:prstGeom>
          <a:solidFill>
            <a:srgbClr val="FBE4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noAutofit/>
          </a:bodyPr>
          <a:lstStyle/>
          <a:p>
            <a:pPr algn="l">
              <a:spcAft>
                <a:spcPts val="0"/>
              </a:spcAft>
            </a:pPr>
            <a:r>
              <a:rPr sz="1600" b="1" i="0">
                <a:solidFill>
                  <a:srgbClr val="1B1F24"/>
                </a:solidFill>
                <a:latin typeface="Arial"/>
              </a:rPr>
              <a:t>Drift, and getting lost</a:t>
            </a:r>
          </a:p>
        </p:txBody>
      </p:sp>
      <p:cxnSp>
        <p:nvCxnSpPr>
          <p:cNvPr id="22" name="Connector 21"/>
          <p:cNvCxnSpPr/>
          <p:nvPr/>
        </p:nvCxnSpPr>
        <p:spPr>
          <a:xfrm>
            <a:off x="4096511" y="5326380"/>
            <a:ext cx="448057" cy="0"/>
          </a:xfrm>
          <a:prstGeom prst="line">
            <a:avLst/>
          </a:prstGeom>
          <a:ln w="28575">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Answer 4"/>
          <p:cNvSpPr/>
          <p:nvPr/>
        </p:nvSpPr>
        <p:spPr>
          <a:xfrm>
            <a:off x="4617720" y="4846320"/>
            <a:ext cx="4937760" cy="960120"/>
          </a:xfrm>
          <a:prstGeom prst="roundRect">
            <a:avLst>
              <a:gd name="adj" fmla="val 8000"/>
            </a:avLst>
          </a:prstGeom>
          <a:solidFill>
            <a:srgbClr val="E3ED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noAutofit/>
          </a:bodyPr>
          <a:lstStyle/>
          <a:p>
            <a:pPr algn="l">
              <a:spcAft>
                <a:spcPts val="200"/>
              </a:spcAft>
            </a:pPr>
            <a:r>
              <a:rPr sz="1600" b="1" i="0">
                <a:solidFill>
                  <a:srgbClr val="1B1F24"/>
                </a:solidFill>
                <a:latin typeface="Arial"/>
              </a:rPr>
              <a:t>Motion from the car, global re-lock</a:t>
            </a:r>
          </a:p>
          <a:p>
            <a:pPr algn="l">
              <a:spcAft>
                <a:spcPts val="0"/>
              </a:spcAft>
            </a:pPr>
            <a:r>
              <a:rPr sz="1400" b="0" i="0">
                <a:solidFill>
                  <a:srgbClr val="1B1F24"/>
                </a:solidFill>
                <a:latin typeface="Arial"/>
              </a:rPr>
              <a:t>Speed and turn rate drive the prediction. Three confident matches elsewhere trigger a re-lock.</a:t>
            </a:r>
          </a:p>
        </p:txBody>
      </p:sp>
      <p:sp>
        <p:nvSpPr>
          <p:cNvPr id="24" name="Tag 4"/>
          <p:cNvSpPr/>
          <p:nvPr/>
        </p:nvSpPr>
        <p:spPr>
          <a:xfrm>
            <a:off x="9829800" y="5143500"/>
            <a:ext cx="1813255" cy="365760"/>
          </a:xfrm>
          <a:prstGeom prst="roundRect">
            <a:avLst>
              <a:gd name="adj" fmla="val 50000"/>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noAutofit/>
          </a:bodyPr>
          <a:lstStyle/>
          <a:p>
            <a:pPr algn="ctr">
              <a:spcAft>
                <a:spcPts val="0"/>
              </a:spcAft>
            </a:pPr>
            <a:r>
              <a:rPr sz="1400" b="1" i="0">
                <a:solidFill>
                  <a:srgbClr val="5F6B7A"/>
                </a:solidFill>
                <a:latin typeface="Arial"/>
              </a:rPr>
              <a:t>every frame</a:t>
            </a:r>
          </a:p>
        </p:txBody>
      </p:sp>
      <p:sp>
        <p:nvSpPr>
          <p:cNvPr id="25" name="Note"/>
          <p:cNvSpPr txBox="1"/>
          <p:nvPr/>
        </p:nvSpPr>
        <p:spPr>
          <a:xfrm>
            <a:off x="548640" y="6035040"/>
            <a:ext cx="11094415" cy="274320"/>
          </a:xfrm>
          <a:prstGeom prst="rect">
            <a:avLst/>
          </a:prstGeom>
          <a:noFill/>
        </p:spPr>
        <p:txBody>
          <a:bodyPr wrap="square" lIns="0" tIns="0" rIns="0" bIns="0" anchor="t">
            <a:noAutofit/>
          </a:bodyPr>
          <a:lstStyle/>
          <a:p>
            <a:pPr algn="l">
              <a:spcAft>
                <a:spcPts val="0"/>
              </a:spcAft>
            </a:pPr>
            <a:r>
              <a:rPr sz="1400" b="0" i="0">
                <a:solidFill>
                  <a:srgbClr val="5F6B7A"/>
                </a:solidFill>
                <a:latin typeface="Arial"/>
              </a:rPr>
              <a:t>Training-only parts add no cost at run time. These are design choices; the next slide shows the one measured result we have.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66928"/>
            <a:ext cx="11094415" cy="685800"/>
          </a:xfrm>
        </p:spPr>
        <p:txBody>
          <a:bodyPr wrap="square" lIns="0" tIns="0" rIns="0" bIns="0" anchor="t">
            <a:noAutofit/>
          </a:bodyPr>
          <a:lstStyle/>
          <a:p>
            <a:pPr algn="l">
              <a:spcAft>
                <a:spcPts val="0"/>
              </a:spcAft>
            </a:pPr>
            <a:r>
              <a:rPr sz="3000" b="1" i="0">
                <a:solidFill>
                  <a:srgbClr val="1B1F24"/>
                </a:solidFill>
                <a:latin typeface="Arial"/>
              </a:rPr>
              <a:t>Measure first: a filter fix cut the error by 44%</a:t>
            </a:r>
          </a:p>
        </p:txBody>
      </p:sp>
      <p:sp>
        <p:nvSpPr>
          <p:cNvPr id="3" name="Kicker"/>
          <p:cNvSpPr txBox="1"/>
          <p:nvPr/>
        </p:nvSpPr>
        <p:spPr>
          <a:xfrm>
            <a:off x="548640" y="274320"/>
            <a:ext cx="8686800" cy="274320"/>
          </a:xfrm>
          <a:prstGeom prst="rect">
            <a:avLst/>
          </a:prstGeom>
          <a:noFill/>
        </p:spPr>
        <p:txBody>
          <a:bodyPr wrap="square" lIns="0" tIns="0" rIns="0" bIns="0" anchor="t">
            <a:noAutofit/>
          </a:bodyPr>
          <a:lstStyle/>
          <a:p>
            <a:pPr algn="l">
              <a:spcAft>
                <a:spcPts val="0"/>
              </a:spcAft>
            </a:pPr>
            <a:r>
              <a:rPr sz="1400" b="1" i="0">
                <a:solidFill>
                  <a:srgbClr val="2F6FDE"/>
                </a:solidFill>
                <a:latin typeface="Arial"/>
              </a:rPr>
              <a:t>EVIDENCE</a:t>
            </a:r>
          </a:p>
        </p:txBody>
      </p:sp>
      <p:sp>
        <p:nvSpPr>
          <p:cNvPr id="4" name="Footer"/>
          <p:cNvSpPr txBox="1"/>
          <p:nvPr/>
        </p:nvSpPr>
        <p:spPr>
          <a:xfrm>
            <a:off x="548640" y="6473952"/>
            <a:ext cx="8229600" cy="256032"/>
          </a:xfrm>
          <a:prstGeom prst="rect">
            <a:avLst/>
          </a:prstGeom>
          <a:noFill/>
        </p:spPr>
        <p:txBody>
          <a:bodyPr wrap="square" lIns="0" tIns="0" rIns="0" bIns="0" anchor="t">
            <a:noAutofit/>
          </a:bodyPr>
          <a:lstStyle/>
          <a:p>
            <a:pPr algn="l">
              <a:spcAft>
                <a:spcPts val="0"/>
              </a:spcAft>
            </a:pPr>
            <a:r>
              <a:rPr sz="1200" b="0" i="0">
                <a:solidFill>
                  <a:srgbClr val="6B7787"/>
                </a:solidFill>
                <a:latin typeface="Arial"/>
              </a:rPr>
              <a:t>Camera-only localization of a race car  ·  Constructor Labs challenge</a:t>
            </a:r>
          </a:p>
        </p:txBody>
      </p:sp>
      <p:sp>
        <p:nvSpPr>
          <p:cNvPr id="5" name="Slide number"/>
          <p:cNvSpPr txBox="1"/>
          <p:nvPr/>
        </p:nvSpPr>
        <p:spPr>
          <a:xfrm>
            <a:off x="10271455" y="6473952"/>
            <a:ext cx="1371600" cy="256032"/>
          </a:xfrm>
          <a:prstGeom prst="rect">
            <a:avLst/>
          </a:prstGeom>
          <a:noFill/>
        </p:spPr>
        <p:txBody>
          <a:bodyPr wrap="square" lIns="0" tIns="0" rIns="0" bIns="0" anchor="t">
            <a:noAutofit/>
          </a:bodyPr>
          <a:lstStyle/>
          <a:p>
            <a:pPr algn="r">
              <a:spcAft>
                <a:spcPts val="0"/>
              </a:spcAft>
            </a:pPr>
            <a:r>
              <a:rPr sz="1200" b="0" i="0">
                <a:solidFill>
                  <a:srgbClr val="6B7787"/>
                </a:solidFill>
                <a:latin typeface="Arial"/>
              </a:rPr>
              <a:t>4 / 6</a:t>
            </a:r>
          </a:p>
        </p:txBody>
      </p:sp>
      <p:sp>
        <p:nvSpPr>
          <p:cNvPr id="6" name="Chart heading"/>
          <p:cNvSpPr txBox="1"/>
          <p:nvPr/>
        </p:nvSpPr>
        <p:spPr>
          <a:xfrm>
            <a:off x="548640" y="1371600"/>
            <a:ext cx="6035040" cy="274320"/>
          </a:xfrm>
          <a:prstGeom prst="rect">
            <a:avLst/>
          </a:prstGeom>
          <a:noFill/>
        </p:spPr>
        <p:txBody>
          <a:bodyPr wrap="square" lIns="0" tIns="0" rIns="0" bIns="0" anchor="t">
            <a:noAutofit/>
          </a:bodyPr>
          <a:lstStyle/>
          <a:p>
            <a:pPr algn="l">
              <a:spcAft>
                <a:spcPts val="0"/>
              </a:spcAft>
            </a:pPr>
            <a:r>
              <a:rPr sz="1600" b="1" i="0">
                <a:solidFill>
                  <a:srgbClr val="5F6B7A"/>
                </a:solidFill>
                <a:latin typeface="Arial"/>
              </a:rPr>
              <a:t>Position error in metres (lower is better)</a:t>
            </a:r>
          </a:p>
        </p:txBody>
      </p:sp>
      <p:graphicFrame>
        <p:nvGraphicFramePr>
          <p:cNvPr id="7" name="Chart: error before and after tuning"/>
          <p:cNvGraphicFramePr>
            <a:graphicFrameLocks noGrp="1"/>
          </p:cNvGraphicFramePr>
          <p:nvPr/>
        </p:nvGraphicFramePr>
        <p:xfrm>
          <a:off x="548640" y="1691640"/>
          <a:ext cx="6126480" cy="4069080"/>
        </p:xfrm>
        <a:graphic>
          <a:graphicData uri="http://schemas.openxmlformats.org/drawingml/2006/chart">
            <c:chart xmlns:c="http://schemas.openxmlformats.org/drawingml/2006/chart" r:id="rId2"/>
          </a:graphicData>
        </a:graphic>
      </p:graphicFrame>
      <p:sp>
        <p:nvSpPr>
          <p:cNvPr id="8" name="Chart source"/>
          <p:cNvSpPr txBox="1"/>
          <p:nvPr/>
        </p:nvSpPr>
        <p:spPr>
          <a:xfrm>
            <a:off x="548640" y="5833872"/>
            <a:ext cx="6126480" cy="548640"/>
          </a:xfrm>
          <a:prstGeom prst="rect">
            <a:avLst/>
          </a:prstGeom>
          <a:noFill/>
        </p:spPr>
        <p:txBody>
          <a:bodyPr wrap="square" lIns="0" tIns="0" rIns="0" bIns="0" anchor="t">
            <a:noAutofit/>
          </a:bodyPr>
          <a:lstStyle/>
          <a:p>
            <a:pPr algn="l">
              <a:spcAft>
                <a:spcPts val="0"/>
              </a:spcAft>
            </a:pPr>
            <a:r>
              <a:rPr sz="1200" b="0" i="0">
                <a:solidFill>
                  <a:srgbClr val="6B7787"/>
                </a:solidFill>
                <a:latin typeface="Arial"/>
              </a:rPr>
              <a:t>Held-out validation, earlier pipeline version (git tags rmse-24.508 and rmse-13.688). Sources: README.md, brainstorming_and_diagnostics.md.</a:t>
            </a:r>
          </a:p>
        </p:txBody>
      </p:sp>
      <p:sp>
        <p:nvSpPr>
          <p:cNvPr id="9" name="Big number"/>
          <p:cNvSpPr txBox="1"/>
          <p:nvPr/>
        </p:nvSpPr>
        <p:spPr>
          <a:xfrm>
            <a:off x="7086600" y="1325880"/>
            <a:ext cx="2103120" cy="1005840"/>
          </a:xfrm>
          <a:prstGeom prst="rect">
            <a:avLst/>
          </a:prstGeom>
          <a:noFill/>
        </p:spPr>
        <p:txBody>
          <a:bodyPr wrap="square" lIns="0" tIns="0" rIns="0" bIns="0" anchor="ctr">
            <a:noAutofit/>
          </a:bodyPr>
          <a:lstStyle/>
          <a:p>
            <a:pPr algn="l">
              <a:spcAft>
                <a:spcPts val="0"/>
              </a:spcAft>
            </a:pPr>
            <a:r>
              <a:rPr sz="6000" b="1" i="0">
                <a:solidFill>
                  <a:srgbClr val="1E8A5A"/>
                </a:solidFill>
                <a:latin typeface="Arial"/>
              </a:rPr>
              <a:t>−44%</a:t>
            </a:r>
          </a:p>
        </p:txBody>
      </p:sp>
      <p:sp>
        <p:nvSpPr>
          <p:cNvPr id="10" name="Big number label"/>
          <p:cNvSpPr txBox="1"/>
          <p:nvPr/>
        </p:nvSpPr>
        <p:spPr>
          <a:xfrm>
            <a:off x="9281160" y="1371600"/>
            <a:ext cx="2361895" cy="914400"/>
          </a:xfrm>
          <a:prstGeom prst="rect">
            <a:avLst/>
          </a:prstGeom>
          <a:noFill/>
        </p:spPr>
        <p:txBody>
          <a:bodyPr wrap="square" lIns="0" tIns="0" rIns="0" bIns="0" anchor="ctr">
            <a:noAutofit/>
          </a:bodyPr>
          <a:lstStyle/>
          <a:p>
            <a:pPr algn="l">
              <a:spcAft>
                <a:spcPts val="0"/>
              </a:spcAft>
            </a:pPr>
            <a:r>
              <a:rPr sz="1600" b="0" i="0">
                <a:solidFill>
                  <a:srgbClr val="1B1F24"/>
                </a:solidFill>
                <a:latin typeface="Arial"/>
              </a:rPr>
              <a:t>position error, with no retraining: two filter trust settings changed</a:t>
            </a:r>
          </a:p>
        </p:txBody>
      </p:sp>
      <p:sp>
        <p:nvSpPr>
          <p:cNvPr id="11" name="Stat 1 number"/>
          <p:cNvSpPr txBox="1"/>
          <p:nvPr/>
        </p:nvSpPr>
        <p:spPr>
          <a:xfrm>
            <a:off x="7086600" y="2468880"/>
            <a:ext cx="2103120" cy="502920"/>
          </a:xfrm>
          <a:prstGeom prst="rect">
            <a:avLst/>
          </a:prstGeom>
          <a:noFill/>
        </p:spPr>
        <p:txBody>
          <a:bodyPr wrap="square" lIns="0" tIns="0" rIns="0" bIns="0" anchor="ctr">
            <a:noAutofit/>
          </a:bodyPr>
          <a:lstStyle/>
          <a:p>
            <a:pPr algn="l">
              <a:spcAft>
                <a:spcPts val="0"/>
              </a:spcAft>
            </a:pPr>
            <a:r>
              <a:rPr sz="1800" b="1" i="0">
                <a:solidFill>
                  <a:srgbClr val="1B1F24"/>
                </a:solidFill>
                <a:latin typeface="Arial"/>
              </a:rPr>
              <a:t>98%</a:t>
            </a:r>
          </a:p>
        </p:txBody>
      </p:sp>
      <p:sp>
        <p:nvSpPr>
          <p:cNvPr id="12" name="Stat 1 label"/>
          <p:cNvSpPr txBox="1"/>
          <p:nvPr/>
        </p:nvSpPr>
        <p:spPr>
          <a:xfrm>
            <a:off x="9281160" y="2468880"/>
            <a:ext cx="2361895" cy="502920"/>
          </a:xfrm>
          <a:prstGeom prst="rect">
            <a:avLst/>
          </a:prstGeom>
          <a:noFill/>
        </p:spPr>
        <p:txBody>
          <a:bodyPr wrap="square" lIns="0" tIns="0" rIns="0" bIns="0" anchor="ctr">
            <a:noAutofit/>
          </a:bodyPr>
          <a:lstStyle/>
          <a:p>
            <a:pPr algn="l">
              <a:spcAft>
                <a:spcPts val="0"/>
              </a:spcAft>
            </a:pPr>
            <a:r>
              <a:rPr sz="1400" b="0" i="0">
                <a:solidFill>
                  <a:srgbClr val="5F6B7A"/>
                </a:solidFill>
                <a:latin typeface="Arial"/>
              </a:rPr>
              <a:t>of the squared error was along the track</a:t>
            </a:r>
          </a:p>
        </p:txBody>
      </p:sp>
      <p:sp>
        <p:nvSpPr>
          <p:cNvPr id="13" name="Stat 2 number"/>
          <p:cNvSpPr txBox="1"/>
          <p:nvPr/>
        </p:nvSpPr>
        <p:spPr>
          <a:xfrm>
            <a:off x="7086600" y="3035808"/>
            <a:ext cx="2103120" cy="502920"/>
          </a:xfrm>
          <a:prstGeom prst="rect">
            <a:avLst/>
          </a:prstGeom>
          <a:noFill/>
        </p:spPr>
        <p:txBody>
          <a:bodyPr wrap="square" lIns="0" tIns="0" rIns="0" bIns="0" anchor="ctr">
            <a:noAutofit/>
          </a:bodyPr>
          <a:lstStyle/>
          <a:p>
            <a:pPr algn="l">
              <a:spcAft>
                <a:spcPts val="0"/>
              </a:spcAft>
            </a:pPr>
            <a:r>
              <a:rPr sz="1800" b="1" i="0">
                <a:solidFill>
                  <a:srgbClr val="1B1F24"/>
                </a:solidFill>
                <a:latin typeface="Arial"/>
              </a:rPr>
              <a:t>9.0 to 1.5 m</a:t>
            </a:r>
          </a:p>
        </p:txBody>
      </p:sp>
      <p:sp>
        <p:nvSpPr>
          <p:cNvPr id="14" name="Stat 2 label"/>
          <p:cNvSpPr txBox="1"/>
          <p:nvPr/>
        </p:nvSpPr>
        <p:spPr>
          <a:xfrm>
            <a:off x="9281160" y="3035808"/>
            <a:ext cx="2361895" cy="502920"/>
          </a:xfrm>
          <a:prstGeom prst="rect">
            <a:avLst/>
          </a:prstGeom>
          <a:noFill/>
        </p:spPr>
        <p:txBody>
          <a:bodyPr wrap="square" lIns="0" tIns="0" rIns="0" bIns="0" anchor="ctr">
            <a:noAutofit/>
          </a:bodyPr>
          <a:lstStyle/>
          <a:p>
            <a:pPr algn="l">
              <a:spcAft>
                <a:spcPts val="0"/>
              </a:spcAft>
            </a:pPr>
            <a:r>
              <a:rPr sz="1400" b="0" i="0">
                <a:solidFill>
                  <a:srgbClr val="5F6B7A"/>
                </a:solidFill>
                <a:latin typeface="Arial"/>
              </a:rPr>
              <a:t>median error</a:t>
            </a:r>
          </a:p>
        </p:txBody>
      </p:sp>
      <p:sp>
        <p:nvSpPr>
          <p:cNvPr id="15" name="Stat 3 number"/>
          <p:cNvSpPr txBox="1"/>
          <p:nvPr/>
        </p:nvSpPr>
        <p:spPr>
          <a:xfrm>
            <a:off x="7086600" y="3602736"/>
            <a:ext cx="2103120" cy="502920"/>
          </a:xfrm>
          <a:prstGeom prst="rect">
            <a:avLst/>
          </a:prstGeom>
          <a:noFill/>
        </p:spPr>
        <p:txBody>
          <a:bodyPr wrap="square" lIns="0" tIns="0" rIns="0" bIns="0" anchor="ctr">
            <a:noAutofit/>
          </a:bodyPr>
          <a:lstStyle/>
          <a:p>
            <a:pPr algn="l">
              <a:spcAft>
                <a:spcPts val="0"/>
              </a:spcAft>
            </a:pPr>
            <a:r>
              <a:rPr sz="1800" b="1" i="0">
                <a:solidFill>
                  <a:srgbClr val="1B1F24"/>
                </a:solidFill>
                <a:latin typeface="Arial"/>
              </a:rPr>
              <a:t>12.8% to 32.8%</a:t>
            </a:r>
          </a:p>
        </p:txBody>
      </p:sp>
      <p:sp>
        <p:nvSpPr>
          <p:cNvPr id="16" name="Stat 3 label"/>
          <p:cNvSpPr txBox="1"/>
          <p:nvPr/>
        </p:nvSpPr>
        <p:spPr>
          <a:xfrm>
            <a:off x="9281160" y="3602736"/>
            <a:ext cx="2361895" cy="502920"/>
          </a:xfrm>
          <a:prstGeom prst="rect">
            <a:avLst/>
          </a:prstGeom>
          <a:noFill/>
        </p:spPr>
        <p:txBody>
          <a:bodyPr wrap="square" lIns="0" tIns="0" rIns="0" bIns="0" anchor="ctr">
            <a:noAutofit/>
          </a:bodyPr>
          <a:lstStyle/>
          <a:p>
            <a:pPr algn="l">
              <a:spcAft>
                <a:spcPts val="0"/>
              </a:spcAft>
            </a:pPr>
            <a:r>
              <a:rPr sz="1400" b="0" i="0">
                <a:solidFill>
                  <a:srgbClr val="5F6B7A"/>
                </a:solidFill>
                <a:latin typeface="Arial"/>
              </a:rPr>
              <a:t>of frames within 1 m of the truth</a:t>
            </a:r>
          </a:p>
        </p:txBody>
      </p:sp>
      <p:sp>
        <p:nvSpPr>
          <p:cNvPr id="17" name="Card: final pipeline results"/>
          <p:cNvSpPr/>
          <p:nvPr/>
        </p:nvSpPr>
        <p:spPr>
          <a:xfrm>
            <a:off x="7086600" y="4297680"/>
            <a:ext cx="4556455" cy="2011680"/>
          </a:xfrm>
          <a:prstGeom prst="roundRect">
            <a:avLst>
              <a:gd name="adj" fmla="val 8000"/>
            </a:avLst>
          </a:prstGeom>
          <a:solidFill>
            <a:srgbClr val="FFF4D6"/>
          </a:solidFill>
          <a:ln w="19050">
            <a:solidFill>
              <a:srgbClr val="E0A8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rd heading"/>
          <p:cNvSpPr txBox="1"/>
          <p:nvPr/>
        </p:nvSpPr>
        <p:spPr>
          <a:xfrm>
            <a:off x="7269480" y="4389120"/>
            <a:ext cx="4190695" cy="320040"/>
          </a:xfrm>
          <a:prstGeom prst="rect">
            <a:avLst/>
          </a:prstGeom>
          <a:noFill/>
        </p:spPr>
        <p:txBody>
          <a:bodyPr wrap="square" lIns="0" tIns="0" rIns="0" bIns="0" anchor="t">
            <a:noAutofit/>
          </a:bodyPr>
          <a:lstStyle/>
          <a:p>
            <a:pPr algn="l">
              <a:spcAft>
                <a:spcPts val="0"/>
              </a:spcAft>
            </a:pPr>
            <a:r>
              <a:rPr sz="1600" b="1" i="0">
                <a:solidFill>
                  <a:srgbClr val="8A5A00"/>
                </a:solidFill>
                <a:latin typeface="Arial"/>
              </a:rPr>
              <a:t>Final pipeline: fill in</a:t>
            </a:r>
          </a:p>
        </p:txBody>
      </p:sp>
      <p:sp>
        <p:nvSpPr>
          <p:cNvPr id="19" name="Final 1 label"/>
          <p:cNvSpPr txBox="1"/>
          <p:nvPr/>
        </p:nvSpPr>
        <p:spPr>
          <a:xfrm>
            <a:off x="7269480" y="4800600"/>
            <a:ext cx="2651760" cy="329184"/>
          </a:xfrm>
          <a:prstGeom prst="rect">
            <a:avLst/>
          </a:prstGeom>
          <a:noFill/>
        </p:spPr>
        <p:txBody>
          <a:bodyPr wrap="square" lIns="0" tIns="0" rIns="0" bIns="0" anchor="ctr">
            <a:noAutofit/>
          </a:bodyPr>
          <a:lstStyle/>
          <a:p>
            <a:pPr algn="l">
              <a:spcAft>
                <a:spcPts val="0"/>
              </a:spcAft>
            </a:pPr>
            <a:r>
              <a:rPr sz="1400" b="0" i="0">
                <a:solidFill>
                  <a:srgbClr val="1B1F24"/>
                </a:solidFill>
                <a:latin typeface="Arial"/>
              </a:rPr>
              <a:t>Validation position RMSE</a:t>
            </a:r>
          </a:p>
        </p:txBody>
      </p:sp>
      <p:sp>
        <p:nvSpPr>
          <p:cNvPr id="20" name="Final 1 value"/>
          <p:cNvSpPr txBox="1"/>
          <p:nvPr/>
        </p:nvSpPr>
        <p:spPr>
          <a:xfrm>
            <a:off x="9921240" y="4800600"/>
            <a:ext cx="1538935" cy="329184"/>
          </a:xfrm>
          <a:prstGeom prst="rect">
            <a:avLst/>
          </a:prstGeom>
          <a:noFill/>
        </p:spPr>
        <p:txBody>
          <a:bodyPr wrap="square" lIns="0" tIns="0" rIns="0" bIns="0" anchor="ctr">
            <a:noAutofit/>
          </a:bodyPr>
          <a:lstStyle/>
          <a:p>
            <a:pPr algn="r">
              <a:spcAft>
                <a:spcPts val="0"/>
              </a:spcAft>
            </a:pPr>
            <a:r>
              <a:rPr sz="1400" b="1" i="0">
                <a:solidFill>
                  <a:srgbClr val="8A5A00"/>
                </a:solidFill>
                <a:latin typeface="Arial"/>
              </a:rPr>
              <a:t>fill in</a:t>
            </a:r>
          </a:p>
        </p:txBody>
      </p:sp>
      <p:sp>
        <p:nvSpPr>
          <p:cNvPr id="21" name="Final 2 label"/>
          <p:cNvSpPr txBox="1"/>
          <p:nvPr/>
        </p:nvSpPr>
        <p:spPr>
          <a:xfrm>
            <a:off x="7269480" y="5166360"/>
            <a:ext cx="2651760" cy="329184"/>
          </a:xfrm>
          <a:prstGeom prst="rect">
            <a:avLst/>
          </a:prstGeom>
          <a:noFill/>
        </p:spPr>
        <p:txBody>
          <a:bodyPr wrap="square" lIns="0" tIns="0" rIns="0" bIns="0" anchor="ctr">
            <a:noAutofit/>
          </a:bodyPr>
          <a:lstStyle/>
          <a:p>
            <a:pPr algn="l">
              <a:spcAft>
                <a:spcPts val="0"/>
              </a:spcAft>
            </a:pPr>
            <a:r>
              <a:rPr sz="1400" b="0" i="0">
                <a:solidFill>
                  <a:srgbClr val="1B1F24"/>
                </a:solidFill>
                <a:latin typeface="Arial"/>
              </a:rPr>
              <a:t>Across-track (lateral) RMSE</a:t>
            </a:r>
          </a:p>
        </p:txBody>
      </p:sp>
      <p:sp>
        <p:nvSpPr>
          <p:cNvPr id="22" name="Final 2 value"/>
          <p:cNvSpPr txBox="1"/>
          <p:nvPr/>
        </p:nvSpPr>
        <p:spPr>
          <a:xfrm>
            <a:off x="9921240" y="5166360"/>
            <a:ext cx="1538935" cy="329184"/>
          </a:xfrm>
          <a:prstGeom prst="rect">
            <a:avLst/>
          </a:prstGeom>
          <a:noFill/>
        </p:spPr>
        <p:txBody>
          <a:bodyPr wrap="square" lIns="0" tIns="0" rIns="0" bIns="0" anchor="ctr">
            <a:noAutofit/>
          </a:bodyPr>
          <a:lstStyle/>
          <a:p>
            <a:pPr algn="r">
              <a:spcAft>
                <a:spcPts val="0"/>
              </a:spcAft>
            </a:pPr>
            <a:r>
              <a:rPr sz="1400" b="1" i="0">
                <a:solidFill>
                  <a:srgbClr val="8A5A00"/>
                </a:solidFill>
                <a:latin typeface="Arial"/>
              </a:rPr>
              <a:t>fill in</a:t>
            </a:r>
          </a:p>
        </p:txBody>
      </p:sp>
      <p:sp>
        <p:nvSpPr>
          <p:cNvPr id="23" name="Final 3 label"/>
          <p:cNvSpPr txBox="1"/>
          <p:nvPr/>
        </p:nvSpPr>
        <p:spPr>
          <a:xfrm>
            <a:off x="7269480" y="5532120"/>
            <a:ext cx="2651760" cy="329184"/>
          </a:xfrm>
          <a:prstGeom prst="rect">
            <a:avLst/>
          </a:prstGeom>
          <a:noFill/>
        </p:spPr>
        <p:txBody>
          <a:bodyPr wrap="square" lIns="0" tIns="0" rIns="0" bIns="0" anchor="ctr">
            <a:noAutofit/>
          </a:bodyPr>
          <a:lstStyle/>
          <a:p>
            <a:pPr algn="l">
              <a:spcAft>
                <a:spcPts val="0"/>
              </a:spcAft>
            </a:pPr>
            <a:r>
              <a:rPr sz="1400" b="0" i="0">
                <a:solidFill>
                  <a:srgbClr val="1B1F24"/>
                </a:solidFill>
                <a:latin typeface="Arial"/>
              </a:rPr>
              <a:t>Time per frame</a:t>
            </a:r>
          </a:p>
        </p:txBody>
      </p:sp>
      <p:sp>
        <p:nvSpPr>
          <p:cNvPr id="24" name="Final 3 value"/>
          <p:cNvSpPr txBox="1"/>
          <p:nvPr/>
        </p:nvSpPr>
        <p:spPr>
          <a:xfrm>
            <a:off x="9921240" y="5532120"/>
            <a:ext cx="1538935" cy="329184"/>
          </a:xfrm>
          <a:prstGeom prst="rect">
            <a:avLst/>
          </a:prstGeom>
          <a:noFill/>
        </p:spPr>
        <p:txBody>
          <a:bodyPr wrap="square" lIns="0" tIns="0" rIns="0" bIns="0" anchor="ctr">
            <a:noAutofit/>
          </a:bodyPr>
          <a:lstStyle/>
          <a:p>
            <a:pPr algn="r">
              <a:spcAft>
                <a:spcPts val="0"/>
              </a:spcAft>
            </a:pPr>
            <a:r>
              <a:rPr sz="1400" b="1" i="0">
                <a:solidFill>
                  <a:srgbClr val="8A5A00"/>
                </a:solidFill>
                <a:latin typeface="Arial"/>
              </a:rPr>
              <a:t>fill in</a:t>
            </a:r>
          </a:p>
        </p:txBody>
      </p:sp>
      <p:sp>
        <p:nvSpPr>
          <p:cNvPr id="25" name="Final 4 label"/>
          <p:cNvSpPr txBox="1"/>
          <p:nvPr/>
        </p:nvSpPr>
        <p:spPr>
          <a:xfrm>
            <a:off x="7269480" y="5897880"/>
            <a:ext cx="2651760" cy="329184"/>
          </a:xfrm>
          <a:prstGeom prst="rect">
            <a:avLst/>
          </a:prstGeom>
          <a:noFill/>
        </p:spPr>
        <p:txBody>
          <a:bodyPr wrap="square" lIns="0" tIns="0" rIns="0" bIns="0" anchor="ctr">
            <a:noAutofit/>
          </a:bodyPr>
          <a:lstStyle/>
          <a:p>
            <a:pPr algn="l">
              <a:spcAft>
                <a:spcPts val="0"/>
              </a:spcAft>
            </a:pPr>
            <a:r>
              <a:rPr sz="1400" b="0" i="0">
                <a:solidFill>
                  <a:srgbClr val="1B1F24"/>
                </a:solidFill>
                <a:latin typeface="Arial"/>
              </a:rPr>
              <a:t>Hardware</a:t>
            </a:r>
          </a:p>
        </p:txBody>
      </p:sp>
      <p:sp>
        <p:nvSpPr>
          <p:cNvPr id="26" name="Final 4 value"/>
          <p:cNvSpPr txBox="1"/>
          <p:nvPr/>
        </p:nvSpPr>
        <p:spPr>
          <a:xfrm>
            <a:off x="9921240" y="5897880"/>
            <a:ext cx="1538935" cy="329184"/>
          </a:xfrm>
          <a:prstGeom prst="rect">
            <a:avLst/>
          </a:prstGeom>
          <a:noFill/>
        </p:spPr>
        <p:txBody>
          <a:bodyPr wrap="square" lIns="0" tIns="0" rIns="0" bIns="0" anchor="ctr">
            <a:noAutofit/>
          </a:bodyPr>
          <a:lstStyle/>
          <a:p>
            <a:pPr algn="r">
              <a:spcAft>
                <a:spcPts val="0"/>
              </a:spcAft>
            </a:pPr>
            <a:r>
              <a:rPr sz="1400" b="1" i="0">
                <a:solidFill>
                  <a:srgbClr val="8A5A00"/>
                </a:solidFill>
                <a:latin typeface="Arial"/>
              </a:rPr>
              <a:t>fill 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66928"/>
            <a:ext cx="11094415" cy="685800"/>
          </a:xfrm>
        </p:spPr>
        <p:txBody>
          <a:bodyPr wrap="square" lIns="0" tIns="0" rIns="0" bIns="0" anchor="t">
            <a:noAutofit/>
          </a:bodyPr>
          <a:lstStyle/>
          <a:p>
            <a:pPr algn="l">
              <a:spcAft>
                <a:spcPts val="0"/>
              </a:spcAft>
            </a:pPr>
            <a:r>
              <a:rPr sz="3000" b="1" i="0">
                <a:solidFill>
                  <a:srgbClr val="1B1F24"/>
                </a:solidFill>
                <a:latin typeface="Arial"/>
              </a:rPr>
              <a:t>Where it still fails, and why</a:t>
            </a:r>
          </a:p>
        </p:txBody>
      </p:sp>
      <p:sp>
        <p:nvSpPr>
          <p:cNvPr id="3" name="Kicker"/>
          <p:cNvSpPr txBox="1"/>
          <p:nvPr/>
        </p:nvSpPr>
        <p:spPr>
          <a:xfrm>
            <a:off x="548640" y="274320"/>
            <a:ext cx="8686800" cy="274320"/>
          </a:xfrm>
          <a:prstGeom prst="rect">
            <a:avLst/>
          </a:prstGeom>
          <a:noFill/>
        </p:spPr>
        <p:txBody>
          <a:bodyPr wrap="square" lIns="0" tIns="0" rIns="0" bIns="0" anchor="t">
            <a:noAutofit/>
          </a:bodyPr>
          <a:lstStyle/>
          <a:p>
            <a:pPr algn="l">
              <a:spcAft>
                <a:spcPts val="0"/>
              </a:spcAft>
            </a:pPr>
            <a:r>
              <a:rPr sz="1400" b="1" i="0">
                <a:solidFill>
                  <a:srgbClr val="2F6FDE"/>
                </a:solidFill>
                <a:latin typeface="Arial"/>
              </a:rPr>
              <a:t>FAILURE CASES</a:t>
            </a:r>
          </a:p>
        </p:txBody>
      </p:sp>
      <p:sp>
        <p:nvSpPr>
          <p:cNvPr id="4" name="Footer"/>
          <p:cNvSpPr txBox="1"/>
          <p:nvPr/>
        </p:nvSpPr>
        <p:spPr>
          <a:xfrm>
            <a:off x="548640" y="6473952"/>
            <a:ext cx="8229600" cy="256032"/>
          </a:xfrm>
          <a:prstGeom prst="rect">
            <a:avLst/>
          </a:prstGeom>
          <a:noFill/>
        </p:spPr>
        <p:txBody>
          <a:bodyPr wrap="square" lIns="0" tIns="0" rIns="0" bIns="0" anchor="t">
            <a:noAutofit/>
          </a:bodyPr>
          <a:lstStyle/>
          <a:p>
            <a:pPr algn="l">
              <a:spcAft>
                <a:spcPts val="0"/>
              </a:spcAft>
            </a:pPr>
            <a:r>
              <a:rPr sz="1200" b="0" i="0">
                <a:solidFill>
                  <a:srgbClr val="6B7787"/>
                </a:solidFill>
                <a:latin typeface="Arial"/>
              </a:rPr>
              <a:t>Camera-only localization of a race car  ·  Constructor Labs challenge</a:t>
            </a:r>
          </a:p>
        </p:txBody>
      </p:sp>
      <p:sp>
        <p:nvSpPr>
          <p:cNvPr id="5" name="Slide number"/>
          <p:cNvSpPr txBox="1"/>
          <p:nvPr/>
        </p:nvSpPr>
        <p:spPr>
          <a:xfrm>
            <a:off x="10271455" y="6473952"/>
            <a:ext cx="1371600" cy="256032"/>
          </a:xfrm>
          <a:prstGeom prst="rect">
            <a:avLst/>
          </a:prstGeom>
          <a:noFill/>
        </p:spPr>
        <p:txBody>
          <a:bodyPr wrap="square" lIns="0" tIns="0" rIns="0" bIns="0" anchor="t">
            <a:noAutofit/>
          </a:bodyPr>
          <a:lstStyle/>
          <a:p>
            <a:pPr algn="r">
              <a:spcAft>
                <a:spcPts val="0"/>
              </a:spcAft>
            </a:pPr>
            <a:r>
              <a:rPr sz="1200" b="0" i="0">
                <a:solidFill>
                  <a:srgbClr val="6B7787"/>
                </a:solidFill>
                <a:latin typeface="Arial"/>
              </a:rPr>
              <a:t>5 / 6</a:t>
            </a:r>
          </a:p>
        </p:txBody>
      </p:sp>
      <p:sp>
        <p:nvSpPr>
          <p:cNvPr id="6" name="Failure card 1"/>
          <p:cNvSpPr/>
          <p:nvPr/>
        </p:nvSpPr>
        <p:spPr>
          <a:xfrm>
            <a:off x="548640" y="1463040"/>
            <a:ext cx="3520440" cy="466344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ilure 1 title"/>
          <p:cNvSpPr txBox="1"/>
          <p:nvPr/>
        </p:nvSpPr>
        <p:spPr>
          <a:xfrm>
            <a:off x="731520" y="1572768"/>
            <a:ext cx="3154680" cy="365760"/>
          </a:xfrm>
          <a:prstGeom prst="rect">
            <a:avLst/>
          </a:prstGeom>
          <a:noFill/>
        </p:spPr>
        <p:txBody>
          <a:bodyPr wrap="square" lIns="0" tIns="0" rIns="0" bIns="0" anchor="t">
            <a:noAutofit/>
          </a:bodyPr>
          <a:lstStyle/>
          <a:p>
            <a:pPr algn="l">
              <a:spcAft>
                <a:spcPts val="0"/>
              </a:spcAft>
            </a:pPr>
            <a:r>
              <a:rPr sz="2000" b="1" i="0">
                <a:solidFill>
                  <a:srgbClr val="B83227"/>
                </a:solidFill>
                <a:latin typeface="Arial"/>
              </a:rPr>
              <a:t>Look-alike straights</a:t>
            </a:r>
          </a:p>
        </p:txBody>
      </p:sp>
      <p:sp>
        <p:nvSpPr>
          <p:cNvPr id="8" name="Failure 1 diagram frame"/>
          <p:cNvSpPr/>
          <p:nvPr/>
        </p:nvSpPr>
        <p:spPr>
          <a:xfrm>
            <a:off x="731520" y="2057400"/>
            <a:ext cx="3154680" cy="14630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Road edge top"/>
          <p:cNvCxnSpPr/>
          <p:nvPr/>
        </p:nvCxnSpPr>
        <p:spPr>
          <a:xfrm>
            <a:off x="868680" y="2240280"/>
            <a:ext cx="2880359" cy="0"/>
          </a:xfrm>
          <a:prstGeom prst="line">
            <a:avLst/>
          </a:prstGeom>
          <a:ln w="25400">
            <a:solidFill>
              <a:srgbClr val="9AA5B1"/>
            </a:solidFill>
          </a:ln>
        </p:spPr>
        <p:style>
          <a:lnRef idx="2">
            <a:schemeClr val="accent1"/>
          </a:lnRef>
          <a:fillRef idx="0">
            <a:schemeClr val="accent1"/>
          </a:fillRef>
          <a:effectRef idx="1">
            <a:schemeClr val="accent1"/>
          </a:effectRef>
          <a:fontRef idx="minor">
            <a:schemeClr val="tx1"/>
          </a:fontRef>
        </p:style>
      </p:cxnSp>
      <p:cxnSp>
        <p:nvCxnSpPr>
          <p:cNvPr id="10" name="Road edge bottom"/>
          <p:cNvCxnSpPr/>
          <p:nvPr/>
        </p:nvCxnSpPr>
        <p:spPr>
          <a:xfrm>
            <a:off x="868680" y="3337560"/>
            <a:ext cx="2880359" cy="0"/>
          </a:xfrm>
          <a:prstGeom prst="line">
            <a:avLst/>
          </a:prstGeom>
          <a:ln w="25400">
            <a:solidFill>
              <a:srgbClr val="9AA5B1"/>
            </a:solidFill>
          </a:ln>
        </p:spPr>
        <p:style>
          <a:lnRef idx="2">
            <a:schemeClr val="accent1"/>
          </a:lnRef>
          <a:fillRef idx="0">
            <a:schemeClr val="accent1"/>
          </a:fillRef>
          <a:effectRef idx="1">
            <a:schemeClr val="accent1"/>
          </a:effectRef>
          <a:fontRef idx="minor">
            <a:schemeClr val="tx1"/>
          </a:fontRef>
        </p:style>
      </p:cxnSp>
      <p:sp>
        <p:nvSpPr>
          <p:cNvPr id="11" name="True position"/>
          <p:cNvSpPr/>
          <p:nvPr/>
        </p:nvSpPr>
        <p:spPr>
          <a:xfrm>
            <a:off x="1143000" y="2670048"/>
            <a:ext cx="237744" cy="237744"/>
          </a:xfrm>
          <a:prstGeom prst="ellipse">
            <a:avLst/>
          </a:prstGeom>
          <a:solidFill>
            <a:srgbClr val="1B1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stimated position"/>
          <p:cNvSpPr/>
          <p:nvPr/>
        </p:nvSpPr>
        <p:spPr>
          <a:xfrm>
            <a:off x="3017520" y="2670048"/>
            <a:ext cx="237744" cy="237744"/>
          </a:xfrm>
          <a:prstGeom prst="ellipse">
            <a:avLst/>
          </a:prstGeom>
          <a:solidFill>
            <a:srgbClr val="C456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Along-track error"/>
          <p:cNvCxnSpPr/>
          <p:nvPr/>
        </p:nvCxnSpPr>
        <p:spPr>
          <a:xfrm>
            <a:off x="1417320" y="2788920"/>
            <a:ext cx="1563624" cy="0"/>
          </a:xfrm>
          <a:prstGeom prst="line">
            <a:avLst/>
          </a:prstGeom>
          <a:ln w="25400">
            <a:solidFill>
              <a:srgbClr val="B83227"/>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4" name="Label: true"/>
          <p:cNvSpPr txBox="1"/>
          <p:nvPr/>
        </p:nvSpPr>
        <p:spPr>
          <a:xfrm>
            <a:off x="914400" y="2295144"/>
            <a:ext cx="1097280" cy="274320"/>
          </a:xfrm>
          <a:prstGeom prst="rect">
            <a:avLst/>
          </a:prstGeom>
          <a:noFill/>
        </p:spPr>
        <p:txBody>
          <a:bodyPr wrap="square" lIns="0" tIns="0" rIns="0" bIns="0" anchor="t">
            <a:noAutofit/>
          </a:bodyPr>
          <a:lstStyle/>
          <a:p>
            <a:pPr algn="l">
              <a:spcAft>
                <a:spcPts val="0"/>
              </a:spcAft>
            </a:pPr>
            <a:r>
              <a:rPr sz="1400" b="1" i="0">
                <a:solidFill>
                  <a:srgbClr val="1B1F24"/>
                </a:solidFill>
                <a:latin typeface="Arial"/>
              </a:rPr>
              <a:t>true</a:t>
            </a:r>
          </a:p>
        </p:txBody>
      </p:sp>
      <p:sp>
        <p:nvSpPr>
          <p:cNvPr id="15" name="Label: estimate"/>
          <p:cNvSpPr txBox="1"/>
          <p:nvPr/>
        </p:nvSpPr>
        <p:spPr>
          <a:xfrm>
            <a:off x="2697480" y="2295144"/>
            <a:ext cx="1097280" cy="274320"/>
          </a:xfrm>
          <a:prstGeom prst="rect">
            <a:avLst/>
          </a:prstGeom>
          <a:noFill/>
        </p:spPr>
        <p:txBody>
          <a:bodyPr wrap="square" lIns="0" tIns="0" rIns="0" bIns="0" anchor="t">
            <a:noAutofit/>
          </a:bodyPr>
          <a:lstStyle/>
          <a:p>
            <a:pPr algn="r">
              <a:spcAft>
                <a:spcPts val="0"/>
              </a:spcAft>
            </a:pPr>
            <a:r>
              <a:rPr sz="1400" b="1" i="0">
                <a:solidFill>
                  <a:srgbClr val="C4560F"/>
                </a:solidFill>
                <a:latin typeface="Arial"/>
              </a:rPr>
              <a:t>estimate</a:t>
            </a:r>
          </a:p>
        </p:txBody>
      </p:sp>
      <p:sp>
        <p:nvSpPr>
          <p:cNvPr id="16" name="Label: error"/>
          <p:cNvSpPr txBox="1"/>
          <p:nvPr/>
        </p:nvSpPr>
        <p:spPr>
          <a:xfrm>
            <a:off x="914400" y="2971800"/>
            <a:ext cx="2788920" cy="274320"/>
          </a:xfrm>
          <a:prstGeom prst="rect">
            <a:avLst/>
          </a:prstGeom>
          <a:noFill/>
        </p:spPr>
        <p:txBody>
          <a:bodyPr wrap="square" lIns="0" tIns="0" rIns="0" bIns="0" anchor="t">
            <a:noAutofit/>
          </a:bodyPr>
          <a:lstStyle/>
          <a:p>
            <a:pPr algn="ctr">
              <a:spcAft>
                <a:spcPts val="0"/>
              </a:spcAft>
            </a:pPr>
            <a:r>
              <a:rPr sz="1400" b="0" i="0">
                <a:solidFill>
                  <a:srgbClr val="B83227"/>
                </a:solidFill>
                <a:latin typeface="Arial"/>
              </a:rPr>
              <a:t>along-track error</a:t>
            </a:r>
          </a:p>
        </p:txBody>
      </p:sp>
      <p:sp>
        <p:nvSpPr>
          <p:cNvPr id="17" name="Failure 1 text"/>
          <p:cNvSpPr txBox="1"/>
          <p:nvPr/>
        </p:nvSpPr>
        <p:spPr>
          <a:xfrm>
            <a:off x="731520" y="3703320"/>
            <a:ext cx="3154680" cy="1371600"/>
          </a:xfrm>
          <a:prstGeom prst="rect">
            <a:avLst/>
          </a:prstGeom>
          <a:noFill/>
        </p:spPr>
        <p:txBody>
          <a:bodyPr wrap="square" lIns="0" tIns="0" rIns="0" bIns="0" anchor="t">
            <a:noAutofit/>
          </a:bodyPr>
          <a:lstStyle/>
          <a:p>
            <a:pPr algn="l">
              <a:spcAft>
                <a:spcPts val="0"/>
              </a:spcAft>
            </a:pPr>
            <a:r>
              <a:rPr sz="1600" b="0" i="0">
                <a:solidFill>
                  <a:srgbClr val="1B1F24"/>
                </a:solidFill>
                <a:latin typeface="Arial"/>
              </a:rPr>
              <a:t>Along-track error dominated: 98% of the early squared error. After tuning, 5% of frames are still more than 20 m off.</a:t>
            </a:r>
          </a:p>
        </p:txBody>
      </p:sp>
      <p:sp>
        <p:nvSpPr>
          <p:cNvPr id="18" name="Failure 1 response"/>
          <p:cNvSpPr txBox="1"/>
          <p:nvPr/>
        </p:nvSpPr>
        <p:spPr>
          <a:xfrm>
            <a:off x="731520" y="5074920"/>
            <a:ext cx="3154680" cy="960120"/>
          </a:xfrm>
          <a:prstGeom prst="rect">
            <a:avLst/>
          </a:prstGeom>
          <a:noFill/>
        </p:spPr>
        <p:txBody>
          <a:bodyPr wrap="square" lIns="0" tIns="0" rIns="0" bIns="0" anchor="t">
            <a:noAutofit/>
          </a:bodyPr>
          <a:lstStyle/>
          <a:p>
            <a:pPr algn="l">
              <a:spcAft>
                <a:spcPts val="0"/>
              </a:spcAft>
            </a:pPr>
            <a:r>
              <a:rPr sz="1400" b="0" i="0">
                <a:solidFill>
                  <a:srgbClr val="5F6B7A"/>
                </a:solidFill>
                <a:latin typeface="Arial"/>
              </a:rPr>
              <a:t>Response: trust the map match more. Next: match short sequences of views.</a:t>
            </a:r>
          </a:p>
        </p:txBody>
      </p:sp>
      <p:sp>
        <p:nvSpPr>
          <p:cNvPr id="19" name="Failure card 2"/>
          <p:cNvSpPr/>
          <p:nvPr/>
        </p:nvSpPr>
        <p:spPr>
          <a:xfrm>
            <a:off x="4335627" y="1463040"/>
            <a:ext cx="3520440" cy="466344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ailure 2 title"/>
          <p:cNvSpPr txBox="1"/>
          <p:nvPr/>
        </p:nvSpPr>
        <p:spPr>
          <a:xfrm>
            <a:off x="4518507" y="1572768"/>
            <a:ext cx="3154680" cy="365760"/>
          </a:xfrm>
          <a:prstGeom prst="rect">
            <a:avLst/>
          </a:prstGeom>
          <a:noFill/>
        </p:spPr>
        <p:txBody>
          <a:bodyPr wrap="square" lIns="0" tIns="0" rIns="0" bIns="0" anchor="t">
            <a:noAutofit/>
          </a:bodyPr>
          <a:lstStyle/>
          <a:p>
            <a:pPr algn="l">
              <a:spcAft>
                <a:spcPts val="0"/>
              </a:spcAft>
            </a:pPr>
            <a:r>
              <a:rPr sz="2000" b="1" i="0">
                <a:solidFill>
                  <a:srgbClr val="B83227"/>
                </a:solidFill>
                <a:latin typeface="Arial"/>
              </a:rPr>
              <a:t>Places not on the map</a:t>
            </a:r>
          </a:p>
        </p:txBody>
      </p:sp>
      <p:sp>
        <p:nvSpPr>
          <p:cNvPr id="21" name="Failure 2 diagram frame"/>
          <p:cNvSpPr/>
          <p:nvPr/>
        </p:nvSpPr>
        <p:spPr>
          <a:xfrm>
            <a:off x="4518507" y="2057400"/>
            <a:ext cx="3154680" cy="14630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Mapped stretch"/>
          <p:cNvCxnSpPr/>
          <p:nvPr/>
        </p:nvCxnSpPr>
        <p:spPr>
          <a:xfrm>
            <a:off x="4655667" y="2697479"/>
            <a:ext cx="1282446" cy="0"/>
          </a:xfrm>
          <a:prstGeom prst="line">
            <a:avLst/>
          </a:prstGeom>
          <a:ln w="63500">
            <a:solidFill>
              <a:srgbClr val="1E8A5A"/>
            </a:solidFill>
          </a:ln>
        </p:spPr>
        <p:style>
          <a:lnRef idx="2">
            <a:schemeClr val="accent1"/>
          </a:lnRef>
          <a:fillRef idx="0">
            <a:schemeClr val="accent1"/>
          </a:fillRef>
          <a:effectRef idx="1">
            <a:schemeClr val="accent1"/>
          </a:effectRef>
          <a:fontRef idx="minor">
            <a:schemeClr val="tx1"/>
          </a:fontRef>
        </p:style>
      </p:cxnSp>
      <p:cxnSp>
        <p:nvCxnSpPr>
          <p:cNvPr id="23" name="Unmapped stretch"/>
          <p:cNvCxnSpPr/>
          <p:nvPr/>
        </p:nvCxnSpPr>
        <p:spPr>
          <a:xfrm>
            <a:off x="5938113" y="2697479"/>
            <a:ext cx="1597914" cy="0"/>
          </a:xfrm>
          <a:prstGeom prst="line">
            <a:avLst/>
          </a:prstGeom>
          <a:ln w="63500">
            <a:solidFill>
              <a:srgbClr val="B83227"/>
            </a:solidFill>
          </a:ln>
        </p:spPr>
        <p:style>
          <a:lnRef idx="2">
            <a:schemeClr val="accent1"/>
          </a:lnRef>
          <a:fillRef idx="0">
            <a:schemeClr val="accent1"/>
          </a:fillRef>
          <a:effectRef idx="1">
            <a:schemeClr val="accent1"/>
          </a:effectRef>
          <a:fontRef idx="minor">
            <a:schemeClr val="tx1"/>
          </a:fontRef>
        </p:style>
      </p:cxnSp>
      <p:sp>
        <p:nvSpPr>
          <p:cNvPr id="24" name="Parked car"/>
          <p:cNvSpPr/>
          <p:nvPr/>
        </p:nvSpPr>
        <p:spPr>
          <a:xfrm>
            <a:off x="7170267" y="2578608"/>
            <a:ext cx="237744" cy="237744"/>
          </a:xfrm>
          <a:prstGeom prst="ellipse">
            <a:avLst/>
          </a:prstGeom>
          <a:solidFill>
            <a:srgbClr val="1B1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Label: mapped"/>
          <p:cNvSpPr txBox="1"/>
          <p:nvPr/>
        </p:nvSpPr>
        <p:spPr>
          <a:xfrm>
            <a:off x="4655667" y="2898648"/>
            <a:ext cx="1328166" cy="274320"/>
          </a:xfrm>
          <a:prstGeom prst="rect">
            <a:avLst/>
          </a:prstGeom>
          <a:noFill/>
        </p:spPr>
        <p:txBody>
          <a:bodyPr wrap="square" lIns="0" tIns="0" rIns="0" bIns="0" anchor="t">
            <a:noAutofit/>
          </a:bodyPr>
          <a:lstStyle/>
          <a:p>
            <a:pPr algn="l">
              <a:spcAft>
                <a:spcPts val="0"/>
              </a:spcAft>
            </a:pPr>
            <a:r>
              <a:rPr sz="1400" b="1" i="0">
                <a:solidFill>
                  <a:srgbClr val="1E8A5A"/>
                </a:solidFill>
                <a:latin typeface="Arial"/>
              </a:rPr>
              <a:t>in the map</a:t>
            </a:r>
          </a:p>
        </p:txBody>
      </p:sp>
      <p:sp>
        <p:nvSpPr>
          <p:cNvPr id="26" name="Label: unmapped"/>
          <p:cNvSpPr txBox="1"/>
          <p:nvPr/>
        </p:nvSpPr>
        <p:spPr>
          <a:xfrm>
            <a:off x="5983833" y="2898648"/>
            <a:ext cx="1552194" cy="274320"/>
          </a:xfrm>
          <a:prstGeom prst="rect">
            <a:avLst/>
          </a:prstGeom>
          <a:noFill/>
        </p:spPr>
        <p:txBody>
          <a:bodyPr wrap="square" lIns="0" tIns="0" rIns="0" bIns="0" anchor="t">
            <a:noAutofit/>
          </a:bodyPr>
          <a:lstStyle/>
          <a:p>
            <a:pPr algn="r">
              <a:spcAft>
                <a:spcPts val="0"/>
              </a:spcAft>
            </a:pPr>
            <a:r>
              <a:rPr sz="1400" b="1" i="0">
                <a:solidFill>
                  <a:srgbClr val="B83227"/>
                </a:solidFill>
                <a:latin typeface="Arial"/>
              </a:rPr>
              <a:t>not in the map</a:t>
            </a:r>
          </a:p>
        </p:txBody>
      </p:sp>
      <p:sp>
        <p:nvSpPr>
          <p:cNvPr id="27" name="Label: parked"/>
          <p:cNvSpPr txBox="1"/>
          <p:nvPr/>
        </p:nvSpPr>
        <p:spPr>
          <a:xfrm>
            <a:off x="4655667" y="2167128"/>
            <a:ext cx="2880360" cy="274320"/>
          </a:xfrm>
          <a:prstGeom prst="rect">
            <a:avLst/>
          </a:prstGeom>
          <a:noFill/>
        </p:spPr>
        <p:txBody>
          <a:bodyPr wrap="square" lIns="0" tIns="0" rIns="0" bIns="0" anchor="t">
            <a:noAutofit/>
          </a:bodyPr>
          <a:lstStyle/>
          <a:p>
            <a:pPr algn="r">
              <a:spcAft>
                <a:spcPts val="0"/>
              </a:spcAft>
            </a:pPr>
            <a:r>
              <a:rPr sz="1400" b="0" i="0">
                <a:solidFill>
                  <a:srgbClr val="5F6B7A"/>
                </a:solidFill>
                <a:latin typeface="Arial"/>
              </a:rPr>
              <a:t>parked here at the end</a:t>
            </a:r>
          </a:p>
        </p:txBody>
      </p:sp>
      <p:sp>
        <p:nvSpPr>
          <p:cNvPr id="28" name="Failure 2 text"/>
          <p:cNvSpPr txBox="1"/>
          <p:nvPr/>
        </p:nvSpPr>
        <p:spPr>
          <a:xfrm>
            <a:off x="4518507" y="3703320"/>
            <a:ext cx="3154680" cy="1371600"/>
          </a:xfrm>
          <a:prstGeom prst="rect">
            <a:avLst/>
          </a:prstGeom>
          <a:noFill/>
        </p:spPr>
        <p:txBody>
          <a:bodyPr wrap="square" lIns="0" tIns="0" rIns="0" bIns="0" anchor="t">
            <a:noAutofit/>
          </a:bodyPr>
          <a:lstStyle/>
          <a:p>
            <a:pPr algn="l">
              <a:spcAft>
                <a:spcPts val="0"/>
              </a:spcAft>
            </a:pPr>
            <a:r>
              <a:rPr sz="1600" b="0" i="0">
                <a:solidFill>
                  <a:srgbClr val="1B1F24"/>
                </a:solidFill>
                <a:latin typeface="Arial"/>
              </a:rPr>
              <a:t>An earlier validation run ended parked on an unmapped spot: 88% of its squared error came from the last 9 seconds.</a:t>
            </a:r>
          </a:p>
        </p:txBody>
      </p:sp>
      <p:sp>
        <p:nvSpPr>
          <p:cNvPr id="29" name="Failure 2 response"/>
          <p:cNvSpPr txBox="1"/>
          <p:nvPr/>
        </p:nvSpPr>
        <p:spPr>
          <a:xfrm>
            <a:off x="4518507" y="5074920"/>
            <a:ext cx="3154680" cy="960120"/>
          </a:xfrm>
          <a:prstGeom prst="rect">
            <a:avLst/>
          </a:prstGeom>
          <a:noFill/>
        </p:spPr>
        <p:txBody>
          <a:bodyPr wrap="square" lIns="0" tIns="0" rIns="0" bIns="0" anchor="t">
            <a:noAutofit/>
          </a:bodyPr>
          <a:lstStyle/>
          <a:p>
            <a:pPr algn="l">
              <a:spcAft>
                <a:spcPts val="0"/>
              </a:spcAft>
            </a:pPr>
            <a:r>
              <a:rPr sz="1400" b="0" i="0">
                <a:solidFill>
                  <a:srgbClr val="5F6B7A"/>
                </a:solidFill>
                <a:latin typeface="Arial"/>
              </a:rPr>
              <a:t>Response: similarity check, hold-still rule, global re-lock. Not yet re-measured.</a:t>
            </a:r>
          </a:p>
        </p:txBody>
      </p:sp>
      <p:sp>
        <p:nvSpPr>
          <p:cNvPr id="30" name="Failure card 3"/>
          <p:cNvSpPr/>
          <p:nvPr/>
        </p:nvSpPr>
        <p:spPr>
          <a:xfrm>
            <a:off x="8122615" y="1463040"/>
            <a:ext cx="3520440" cy="466344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ailure 3 title"/>
          <p:cNvSpPr txBox="1"/>
          <p:nvPr/>
        </p:nvSpPr>
        <p:spPr>
          <a:xfrm>
            <a:off x="8305495" y="1572768"/>
            <a:ext cx="3154680" cy="365760"/>
          </a:xfrm>
          <a:prstGeom prst="rect">
            <a:avLst/>
          </a:prstGeom>
          <a:noFill/>
        </p:spPr>
        <p:txBody>
          <a:bodyPr wrap="square" lIns="0" tIns="0" rIns="0" bIns="0" anchor="t">
            <a:noAutofit/>
          </a:bodyPr>
          <a:lstStyle/>
          <a:p>
            <a:pPr algn="l">
              <a:spcAft>
                <a:spcPts val="0"/>
              </a:spcAft>
            </a:pPr>
            <a:r>
              <a:rPr sz="2000" b="1" i="0">
                <a:solidFill>
                  <a:srgbClr val="B83227"/>
                </a:solidFill>
                <a:latin typeface="Arial"/>
              </a:rPr>
              <a:t>Unseen daylight</a:t>
            </a:r>
          </a:p>
        </p:txBody>
      </p:sp>
      <p:sp>
        <p:nvSpPr>
          <p:cNvPr id="32" name="Failure 3 diagram frame"/>
          <p:cNvSpPr/>
          <p:nvPr/>
        </p:nvSpPr>
        <p:spPr>
          <a:xfrm>
            <a:off x="8305495" y="2057400"/>
            <a:ext cx="3154680" cy="14630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Night sample"/>
          <p:cNvSpPr/>
          <p:nvPr/>
        </p:nvSpPr>
        <p:spPr>
          <a:xfrm>
            <a:off x="8488375" y="2240280"/>
            <a:ext cx="566928" cy="566928"/>
          </a:xfrm>
          <a:prstGeom prst="roundRect">
            <a:avLst>
              <a:gd name="adj" fmla="val 12000"/>
            </a:avLst>
          </a:prstGeom>
          <a:solidFill>
            <a:srgbClr val="1E2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ynthetic daylight sample"/>
          <p:cNvSpPr/>
          <p:nvPr/>
        </p:nvSpPr>
        <p:spPr>
          <a:xfrm>
            <a:off x="9599371" y="2240280"/>
            <a:ext cx="566928" cy="566928"/>
          </a:xfrm>
          <a:prstGeom prst="roundRect">
            <a:avLst>
              <a:gd name="adj" fmla="val 12000"/>
            </a:avLst>
          </a:prstGeom>
          <a:solidFill>
            <a:srgbClr val="8F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al daylight sample"/>
          <p:cNvSpPr/>
          <p:nvPr/>
        </p:nvSpPr>
        <p:spPr>
          <a:xfrm>
            <a:off x="10710367" y="2240280"/>
            <a:ext cx="566928" cy="566928"/>
          </a:xfrm>
          <a:prstGeom prst="roundRect">
            <a:avLst>
              <a:gd name="adj" fmla="val 12000"/>
            </a:avLst>
          </a:prstGeom>
          <a:solidFill>
            <a:srgbClr val="DCE4EC"/>
          </a:solidFill>
          <a:ln w="19050">
            <a:solidFill>
              <a:srgbClr val="E0A8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Aft>
                <a:spcPts val="0"/>
              </a:spcAft>
            </a:pPr>
            <a:r>
              <a:rPr sz="2000" b="1" i="0">
                <a:solidFill>
                  <a:srgbClr val="8A5A00"/>
                </a:solidFill>
                <a:latin typeface="Arial"/>
              </a:rPr>
              <a:t>?</a:t>
            </a:r>
          </a:p>
        </p:txBody>
      </p:sp>
      <p:cxnSp>
        <p:nvCxnSpPr>
          <p:cNvPr id="36" name="Generated"/>
          <p:cNvCxnSpPr/>
          <p:nvPr/>
        </p:nvCxnSpPr>
        <p:spPr>
          <a:xfrm>
            <a:off x="9101023" y="2523744"/>
            <a:ext cx="452628" cy="0"/>
          </a:xfrm>
          <a:prstGeom prst="line">
            <a:avLst/>
          </a:prstGeom>
          <a:ln w="2540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Unverified"/>
          <p:cNvCxnSpPr/>
          <p:nvPr/>
        </p:nvCxnSpPr>
        <p:spPr>
          <a:xfrm>
            <a:off x="10212019" y="2523744"/>
            <a:ext cx="452628" cy="0"/>
          </a:xfrm>
          <a:prstGeom prst="line">
            <a:avLst/>
          </a:prstGeom>
          <a:ln w="25400">
            <a:solidFill>
              <a:srgbClr val="E0A80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8" name="Label: night"/>
          <p:cNvSpPr txBox="1"/>
          <p:nvPr/>
        </p:nvSpPr>
        <p:spPr>
          <a:xfrm>
            <a:off x="8168335" y="2898648"/>
            <a:ext cx="1207007" cy="274320"/>
          </a:xfrm>
          <a:prstGeom prst="rect">
            <a:avLst/>
          </a:prstGeom>
          <a:noFill/>
        </p:spPr>
        <p:txBody>
          <a:bodyPr wrap="square" lIns="0" tIns="0" rIns="0" bIns="0" anchor="t">
            <a:noAutofit/>
          </a:bodyPr>
          <a:lstStyle/>
          <a:p>
            <a:pPr algn="ctr">
              <a:spcAft>
                <a:spcPts val="0"/>
              </a:spcAft>
            </a:pPr>
            <a:r>
              <a:rPr sz="1400" b="1" i="0">
                <a:solidFill>
                  <a:srgbClr val="1B1F24"/>
                </a:solidFill>
                <a:latin typeface="Arial"/>
              </a:rPr>
              <a:t>night</a:t>
            </a:r>
          </a:p>
        </p:txBody>
      </p:sp>
      <p:sp>
        <p:nvSpPr>
          <p:cNvPr id="39" name="Label: synthetic"/>
          <p:cNvSpPr txBox="1"/>
          <p:nvPr/>
        </p:nvSpPr>
        <p:spPr>
          <a:xfrm>
            <a:off x="9279331" y="2898648"/>
            <a:ext cx="1207007" cy="274320"/>
          </a:xfrm>
          <a:prstGeom prst="rect">
            <a:avLst/>
          </a:prstGeom>
          <a:noFill/>
        </p:spPr>
        <p:txBody>
          <a:bodyPr wrap="square" lIns="0" tIns="0" rIns="0" bIns="0" anchor="t">
            <a:noAutofit/>
          </a:bodyPr>
          <a:lstStyle/>
          <a:p>
            <a:pPr algn="ctr">
              <a:spcAft>
                <a:spcPts val="0"/>
              </a:spcAft>
            </a:pPr>
            <a:r>
              <a:rPr sz="1400" b="1" i="0">
                <a:solidFill>
                  <a:srgbClr val="5F6B7A"/>
                </a:solidFill>
                <a:latin typeface="Arial"/>
              </a:rPr>
              <a:t>synthetic</a:t>
            </a:r>
          </a:p>
        </p:txBody>
      </p:sp>
      <p:sp>
        <p:nvSpPr>
          <p:cNvPr id="40" name="Label: real day"/>
          <p:cNvSpPr txBox="1"/>
          <p:nvPr/>
        </p:nvSpPr>
        <p:spPr>
          <a:xfrm>
            <a:off x="10390327" y="2898648"/>
            <a:ext cx="1207007" cy="274320"/>
          </a:xfrm>
          <a:prstGeom prst="rect">
            <a:avLst/>
          </a:prstGeom>
          <a:noFill/>
        </p:spPr>
        <p:txBody>
          <a:bodyPr wrap="square" lIns="0" tIns="0" rIns="0" bIns="0" anchor="t">
            <a:noAutofit/>
          </a:bodyPr>
          <a:lstStyle/>
          <a:p>
            <a:pPr algn="ctr">
              <a:spcAft>
                <a:spcPts val="0"/>
              </a:spcAft>
            </a:pPr>
            <a:r>
              <a:rPr sz="1400" b="1" i="0">
                <a:solidFill>
                  <a:srgbClr val="8A5A00"/>
                </a:solidFill>
                <a:latin typeface="Arial"/>
              </a:rPr>
              <a:t>real day</a:t>
            </a:r>
          </a:p>
        </p:txBody>
      </p:sp>
      <p:sp>
        <p:nvSpPr>
          <p:cNvPr id="41" name="Failure 3 text"/>
          <p:cNvSpPr txBox="1"/>
          <p:nvPr/>
        </p:nvSpPr>
        <p:spPr>
          <a:xfrm>
            <a:off x="8305495" y="3703320"/>
            <a:ext cx="3154680" cy="1371600"/>
          </a:xfrm>
          <a:prstGeom prst="rect">
            <a:avLst/>
          </a:prstGeom>
          <a:noFill/>
        </p:spPr>
        <p:txBody>
          <a:bodyPr wrap="square" lIns="0" tIns="0" rIns="0" bIns="0" anchor="t">
            <a:noAutofit/>
          </a:bodyPr>
          <a:lstStyle/>
          <a:p>
            <a:pPr algn="l">
              <a:spcAft>
                <a:spcPts val="0"/>
              </a:spcAft>
            </a:pPr>
            <a:r>
              <a:rPr sz="1600" b="0" i="0">
                <a:solidFill>
                  <a:srgbClr val="1B1F24"/>
                </a:solidFill>
                <a:latin typeface="Arial"/>
              </a:rPr>
              <a:t>Synthetic daylight is generated, not measured. The daylight sample has no ground-truth poses to score against.</a:t>
            </a:r>
          </a:p>
        </p:txBody>
      </p:sp>
      <p:sp>
        <p:nvSpPr>
          <p:cNvPr id="42" name="Failure 3 response"/>
          <p:cNvSpPr txBox="1"/>
          <p:nvPr/>
        </p:nvSpPr>
        <p:spPr>
          <a:xfrm>
            <a:off x="8305495" y="5074920"/>
            <a:ext cx="3154680" cy="960120"/>
          </a:xfrm>
          <a:prstGeom prst="rect">
            <a:avLst/>
          </a:prstGeom>
          <a:noFill/>
        </p:spPr>
        <p:txBody>
          <a:bodyPr wrap="square" lIns="0" tIns="0" rIns="0" bIns="0" anchor="t">
            <a:noAutofit/>
          </a:bodyPr>
          <a:lstStyle/>
          <a:p>
            <a:pPr algn="l">
              <a:spcAft>
                <a:spcPts val="0"/>
              </a:spcAft>
            </a:pPr>
            <a:r>
              <a:rPr sz="1400" b="0" i="0">
                <a:solidFill>
                  <a:srgbClr val="5F6B7A"/>
                </a:solidFill>
                <a:latin typeface="Arial"/>
              </a:rPr>
              <a:t>Response: lighting augmentation and night-to-day data; check speed against recorded telemetry.</a:t>
            </a:r>
          </a:p>
        </p:txBody>
      </p:sp>
      <p:sp>
        <p:nvSpPr>
          <p:cNvPr id="43" name="Sources"/>
          <p:cNvSpPr txBox="1"/>
          <p:nvPr/>
        </p:nvSpPr>
        <p:spPr>
          <a:xfrm>
            <a:off x="548640" y="6199632"/>
            <a:ext cx="11094415" cy="237744"/>
          </a:xfrm>
          <a:prstGeom prst="rect">
            <a:avLst/>
          </a:prstGeom>
          <a:noFill/>
        </p:spPr>
        <p:txBody>
          <a:bodyPr wrap="square" lIns="0" tIns="0" rIns="0" bIns="0" anchor="t">
            <a:noAutofit/>
          </a:bodyPr>
          <a:lstStyle/>
          <a:p>
            <a:pPr algn="l">
              <a:spcAft>
                <a:spcPts val="0"/>
              </a:spcAft>
            </a:pPr>
            <a:r>
              <a:rPr sz="1200" b="0" i="0">
                <a:solidFill>
                  <a:srgbClr val="6B7787"/>
                </a:solidFill>
                <a:latin typeface="Arial"/>
              </a:rPr>
              <a:t>Sources: README.md and brainstorming log (98%, 20 m); chats/astra.md debugging log (88%, 9 s); problem statement (daylight test).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66928"/>
            <a:ext cx="11094415" cy="685800"/>
          </a:xfrm>
        </p:spPr>
        <p:txBody>
          <a:bodyPr wrap="square" lIns="0" tIns="0" rIns="0" bIns="0" anchor="t">
            <a:noAutofit/>
          </a:bodyPr>
          <a:lstStyle/>
          <a:p>
            <a:pPr algn="l">
              <a:spcAft>
                <a:spcPts val="0"/>
              </a:spcAft>
            </a:pPr>
            <a:r>
              <a:rPr sz="3000" b="1" i="0">
                <a:solidFill>
                  <a:srgbClr val="1B1F24"/>
                </a:solidFill>
                <a:latin typeface="Arial"/>
              </a:rPr>
              <a:t>Lessons learned and what comes next</a:t>
            </a:r>
          </a:p>
        </p:txBody>
      </p:sp>
      <p:sp>
        <p:nvSpPr>
          <p:cNvPr id="3" name="Kicker"/>
          <p:cNvSpPr txBox="1"/>
          <p:nvPr/>
        </p:nvSpPr>
        <p:spPr>
          <a:xfrm>
            <a:off x="548640" y="274320"/>
            <a:ext cx="8686800" cy="274320"/>
          </a:xfrm>
          <a:prstGeom prst="rect">
            <a:avLst/>
          </a:prstGeom>
          <a:noFill/>
        </p:spPr>
        <p:txBody>
          <a:bodyPr wrap="square" lIns="0" tIns="0" rIns="0" bIns="0" anchor="t">
            <a:noAutofit/>
          </a:bodyPr>
          <a:lstStyle/>
          <a:p>
            <a:pPr algn="l">
              <a:spcAft>
                <a:spcPts val="0"/>
              </a:spcAft>
            </a:pPr>
            <a:r>
              <a:rPr sz="1400" b="1" i="0">
                <a:solidFill>
                  <a:srgbClr val="2F6FDE"/>
                </a:solidFill>
                <a:latin typeface="Arial"/>
              </a:rPr>
              <a:t>LESSONS</a:t>
            </a:r>
          </a:p>
        </p:txBody>
      </p:sp>
      <p:sp>
        <p:nvSpPr>
          <p:cNvPr id="4" name="Footer"/>
          <p:cNvSpPr txBox="1"/>
          <p:nvPr/>
        </p:nvSpPr>
        <p:spPr>
          <a:xfrm>
            <a:off x="548640" y="6473952"/>
            <a:ext cx="8229600" cy="256032"/>
          </a:xfrm>
          <a:prstGeom prst="rect">
            <a:avLst/>
          </a:prstGeom>
          <a:noFill/>
        </p:spPr>
        <p:txBody>
          <a:bodyPr wrap="square" lIns="0" tIns="0" rIns="0" bIns="0" anchor="t">
            <a:noAutofit/>
          </a:bodyPr>
          <a:lstStyle/>
          <a:p>
            <a:pPr algn="l">
              <a:spcAft>
                <a:spcPts val="0"/>
              </a:spcAft>
            </a:pPr>
            <a:r>
              <a:rPr sz="1200" b="0" i="0">
                <a:solidFill>
                  <a:srgbClr val="6B7787"/>
                </a:solidFill>
                <a:latin typeface="Arial"/>
              </a:rPr>
              <a:t>Camera-only localization of a race car  ·  Constructor Labs challenge</a:t>
            </a:r>
          </a:p>
        </p:txBody>
      </p:sp>
      <p:sp>
        <p:nvSpPr>
          <p:cNvPr id="5" name="Slide number"/>
          <p:cNvSpPr txBox="1"/>
          <p:nvPr/>
        </p:nvSpPr>
        <p:spPr>
          <a:xfrm>
            <a:off x="10271455" y="6473952"/>
            <a:ext cx="1371600" cy="256032"/>
          </a:xfrm>
          <a:prstGeom prst="rect">
            <a:avLst/>
          </a:prstGeom>
          <a:noFill/>
        </p:spPr>
        <p:txBody>
          <a:bodyPr wrap="square" lIns="0" tIns="0" rIns="0" bIns="0" anchor="t">
            <a:noAutofit/>
          </a:bodyPr>
          <a:lstStyle/>
          <a:p>
            <a:pPr algn="r">
              <a:spcAft>
                <a:spcPts val="0"/>
              </a:spcAft>
            </a:pPr>
            <a:r>
              <a:rPr sz="1200" b="0" i="0">
                <a:solidFill>
                  <a:srgbClr val="6B7787"/>
                </a:solidFill>
                <a:latin typeface="Arial"/>
              </a:rPr>
              <a:t>6 / 6</a:t>
            </a:r>
          </a:p>
        </p:txBody>
      </p:sp>
      <p:sp>
        <p:nvSpPr>
          <p:cNvPr id="6" name="Lesson 1 badge"/>
          <p:cNvSpPr/>
          <p:nvPr/>
        </p:nvSpPr>
        <p:spPr>
          <a:xfrm>
            <a:off x="548640" y="1618488"/>
            <a:ext cx="548640" cy="548640"/>
          </a:xfrm>
          <a:prstGeom prst="ellipse">
            <a:avLst/>
          </a:prstGeom>
          <a:solidFill>
            <a:srgbClr val="1B1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Aft>
                <a:spcPts val="0"/>
              </a:spcAft>
            </a:pPr>
            <a:r>
              <a:rPr sz="2000" b="1" i="0">
                <a:solidFill>
                  <a:srgbClr val="FFFFFF"/>
                </a:solidFill>
                <a:latin typeface="Arial"/>
              </a:rPr>
              <a:t>1</a:t>
            </a:r>
          </a:p>
        </p:txBody>
      </p:sp>
      <p:sp>
        <p:nvSpPr>
          <p:cNvPr id="7" name="Lesson 1"/>
          <p:cNvSpPr txBox="1"/>
          <p:nvPr/>
        </p:nvSpPr>
        <p:spPr>
          <a:xfrm>
            <a:off x="1325880" y="1508760"/>
            <a:ext cx="5577840" cy="1005840"/>
          </a:xfrm>
          <a:prstGeom prst="rect">
            <a:avLst/>
          </a:prstGeom>
          <a:noFill/>
        </p:spPr>
        <p:txBody>
          <a:bodyPr wrap="square" lIns="0" tIns="0" rIns="0" bIns="0" anchor="t">
            <a:noAutofit/>
          </a:bodyPr>
          <a:lstStyle/>
          <a:p>
            <a:pPr algn="l">
              <a:spcAft>
                <a:spcPts val="300"/>
              </a:spcAft>
            </a:pPr>
            <a:r>
              <a:rPr sz="2000" b="1" i="0">
                <a:solidFill>
                  <a:srgbClr val="1B1F24"/>
                </a:solidFill>
                <a:latin typeface="Arial"/>
              </a:rPr>
              <a:t>Diagnose before you train</a:t>
            </a:r>
          </a:p>
          <a:p>
            <a:pPr algn="l">
              <a:spcAft>
                <a:spcPts val="0"/>
              </a:spcAft>
            </a:pPr>
            <a:r>
              <a:rPr sz="1600" b="0" i="0">
                <a:solidFill>
                  <a:srgbClr val="5F6B7A"/>
                </a:solidFill>
                <a:latin typeface="Arial"/>
              </a:rPr>
              <a:t>An offline tool that may use ground truth showed the fault was the filter, not the network.</a:t>
            </a:r>
          </a:p>
        </p:txBody>
      </p:sp>
      <p:sp>
        <p:nvSpPr>
          <p:cNvPr id="8" name="Lesson 2 badge"/>
          <p:cNvSpPr/>
          <p:nvPr/>
        </p:nvSpPr>
        <p:spPr>
          <a:xfrm>
            <a:off x="548640" y="2898648"/>
            <a:ext cx="548640" cy="548640"/>
          </a:xfrm>
          <a:prstGeom prst="ellipse">
            <a:avLst/>
          </a:prstGeom>
          <a:solidFill>
            <a:srgbClr val="1B1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Aft>
                <a:spcPts val="0"/>
              </a:spcAft>
            </a:pPr>
            <a:r>
              <a:rPr sz="2000" b="1" i="0">
                <a:solidFill>
                  <a:srgbClr val="FFFFFF"/>
                </a:solidFill>
                <a:latin typeface="Arial"/>
              </a:rPr>
              <a:t>2</a:t>
            </a:r>
          </a:p>
        </p:txBody>
      </p:sp>
      <p:sp>
        <p:nvSpPr>
          <p:cNvPr id="9" name="Lesson 2"/>
          <p:cNvSpPr txBox="1"/>
          <p:nvPr/>
        </p:nvSpPr>
        <p:spPr>
          <a:xfrm>
            <a:off x="1325880" y="2788920"/>
            <a:ext cx="5577840" cy="1005840"/>
          </a:xfrm>
          <a:prstGeom prst="rect">
            <a:avLst/>
          </a:prstGeom>
          <a:noFill/>
        </p:spPr>
        <p:txBody>
          <a:bodyPr wrap="square" lIns="0" tIns="0" rIns="0" bIns="0" anchor="t">
            <a:noAutofit/>
          </a:bodyPr>
          <a:lstStyle/>
          <a:p>
            <a:pPr algn="l">
              <a:spcAft>
                <a:spcPts val="300"/>
              </a:spcAft>
            </a:pPr>
            <a:r>
              <a:rPr sz="2000" b="1" i="0">
                <a:solidFill>
                  <a:srgbClr val="1B1F24"/>
                </a:solidFill>
                <a:latin typeface="Arial"/>
              </a:rPr>
              <a:t>Calibrated trust beats a bigger model</a:t>
            </a:r>
          </a:p>
          <a:p>
            <a:pPr algn="l">
              <a:spcAft>
                <a:spcPts val="0"/>
              </a:spcAft>
            </a:pPr>
            <a:r>
              <a:rPr sz="1600" b="0" i="0">
                <a:solidFill>
                  <a:srgbClr val="5F6B7A"/>
                </a:solidFill>
                <a:latin typeface="Arial"/>
              </a:rPr>
              <a:t>Two re-weighted settings gave minus 44%, with no retraining.</a:t>
            </a:r>
          </a:p>
        </p:txBody>
      </p:sp>
      <p:sp>
        <p:nvSpPr>
          <p:cNvPr id="10" name="Lesson 3 badge"/>
          <p:cNvSpPr/>
          <p:nvPr/>
        </p:nvSpPr>
        <p:spPr>
          <a:xfrm>
            <a:off x="548640" y="4178807"/>
            <a:ext cx="548640" cy="548640"/>
          </a:xfrm>
          <a:prstGeom prst="ellipse">
            <a:avLst/>
          </a:prstGeom>
          <a:solidFill>
            <a:srgbClr val="1B1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Aft>
                <a:spcPts val="0"/>
              </a:spcAft>
            </a:pPr>
            <a:r>
              <a:rPr sz="2000" b="1" i="0">
                <a:solidFill>
                  <a:srgbClr val="FFFFFF"/>
                </a:solidFill>
                <a:latin typeface="Arial"/>
              </a:rPr>
              <a:t>3</a:t>
            </a:r>
          </a:p>
        </p:txBody>
      </p:sp>
      <p:sp>
        <p:nvSpPr>
          <p:cNvPr id="11" name="Lesson 3"/>
          <p:cNvSpPr txBox="1"/>
          <p:nvPr/>
        </p:nvSpPr>
        <p:spPr>
          <a:xfrm>
            <a:off x="1325880" y="4069079"/>
            <a:ext cx="5577840" cy="1005840"/>
          </a:xfrm>
          <a:prstGeom prst="rect">
            <a:avLst/>
          </a:prstGeom>
          <a:noFill/>
        </p:spPr>
        <p:txBody>
          <a:bodyPr wrap="square" lIns="0" tIns="0" rIns="0" bIns="0" anchor="t">
            <a:noAutofit/>
          </a:bodyPr>
          <a:lstStyle/>
          <a:p>
            <a:pPr algn="l">
              <a:spcAft>
                <a:spcPts val="300"/>
              </a:spcAft>
            </a:pPr>
            <a:r>
              <a:rPr sz="2000" b="1" i="0">
                <a:solidFill>
                  <a:srgbClr val="1B1F24"/>
                </a:solidFill>
                <a:latin typeface="Arial"/>
              </a:rPr>
              <a:t>Use every signal the rules allow</a:t>
            </a:r>
          </a:p>
          <a:p>
            <a:pPr algn="l">
              <a:spcAft>
                <a:spcPts val="0"/>
              </a:spcAft>
            </a:pPr>
            <a:r>
              <a:rPr sz="1600" b="0" i="0">
                <a:solidFill>
                  <a:srgbClr val="5F6B7A"/>
                </a:solidFill>
                <a:latin typeface="Arial"/>
              </a:rPr>
              <a:t>The car's speed and turn rate do not depend on light.</a:t>
            </a:r>
          </a:p>
        </p:txBody>
      </p:sp>
      <p:sp>
        <p:nvSpPr>
          <p:cNvPr id="12" name="Next heading"/>
          <p:cNvSpPr txBox="1"/>
          <p:nvPr/>
        </p:nvSpPr>
        <p:spPr>
          <a:xfrm>
            <a:off x="7406640" y="1371600"/>
            <a:ext cx="4236415" cy="274320"/>
          </a:xfrm>
          <a:prstGeom prst="rect">
            <a:avLst/>
          </a:prstGeom>
          <a:noFill/>
        </p:spPr>
        <p:txBody>
          <a:bodyPr wrap="square" lIns="0" tIns="0" rIns="0" bIns="0" anchor="t">
            <a:noAutofit/>
          </a:bodyPr>
          <a:lstStyle/>
          <a:p>
            <a:pPr algn="l">
              <a:spcAft>
                <a:spcPts val="0"/>
              </a:spcAft>
            </a:pPr>
            <a:r>
              <a:rPr sz="1400" b="1" i="0">
                <a:solidFill>
                  <a:srgbClr val="2F6FDE"/>
                </a:solidFill>
                <a:latin typeface="Arial"/>
              </a:rPr>
              <a:t>NEXT</a:t>
            </a:r>
          </a:p>
        </p:txBody>
      </p:sp>
      <p:sp>
        <p:nvSpPr>
          <p:cNvPr id="13" name="Next step 1"/>
          <p:cNvSpPr/>
          <p:nvPr/>
        </p:nvSpPr>
        <p:spPr>
          <a:xfrm>
            <a:off x="7406640" y="1737360"/>
            <a:ext cx="4236415" cy="914400"/>
          </a:xfrm>
          <a:prstGeom prst="roundRect">
            <a:avLst>
              <a:gd name="adj" fmla="val 8000"/>
            </a:avLst>
          </a:prstGeom>
          <a:solidFill>
            <a:srgbClr val="E3EDFC"/>
          </a:solidFill>
          <a:ln w="15875">
            <a:solidFill>
              <a:srgbClr val="2F6F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noAutofit/>
          </a:bodyPr>
          <a:lstStyle/>
          <a:p>
            <a:pPr algn="l">
              <a:spcAft>
                <a:spcPts val="200"/>
              </a:spcAft>
            </a:pPr>
            <a:r>
              <a:rPr sz="1600" b="1" i="0">
                <a:solidFill>
                  <a:srgbClr val="1B1F24"/>
                </a:solidFill>
                <a:latin typeface="Arial"/>
              </a:rPr>
              <a:t>Short sequences of views</a:t>
            </a:r>
          </a:p>
          <a:p>
            <a:pPr algn="l">
              <a:spcAft>
                <a:spcPts val="0"/>
              </a:spcAft>
            </a:pPr>
            <a:r>
              <a:rPr sz="1400" b="0" i="0">
                <a:solidFill>
                  <a:srgbClr val="1B1F24"/>
                </a:solidFill>
                <a:latin typeface="Arial"/>
              </a:rPr>
              <a:t>instead of one frame at a time</a:t>
            </a:r>
          </a:p>
        </p:txBody>
      </p:sp>
      <p:cxnSp>
        <p:nvCxnSpPr>
          <p:cNvPr id="14" name="Connector 13"/>
          <p:cNvCxnSpPr/>
          <p:nvPr/>
        </p:nvCxnSpPr>
        <p:spPr>
          <a:xfrm>
            <a:off x="9524847" y="2679191"/>
            <a:ext cx="0" cy="310897"/>
          </a:xfrm>
          <a:prstGeom prst="line">
            <a:avLst/>
          </a:prstGeom>
          <a:ln w="28575">
            <a:solidFill>
              <a:srgbClr val="2F6FD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Next step 2"/>
          <p:cNvSpPr/>
          <p:nvPr/>
        </p:nvSpPr>
        <p:spPr>
          <a:xfrm>
            <a:off x="7406640" y="3017520"/>
            <a:ext cx="4236415" cy="914400"/>
          </a:xfrm>
          <a:prstGeom prst="roundRect">
            <a:avLst>
              <a:gd name="adj" fmla="val 8000"/>
            </a:avLst>
          </a:prstGeom>
          <a:solidFill>
            <a:srgbClr val="E3EDFC"/>
          </a:solidFill>
          <a:ln w="15875">
            <a:solidFill>
              <a:srgbClr val="2F6F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noAutofit/>
          </a:bodyPr>
          <a:lstStyle/>
          <a:p>
            <a:pPr algn="l">
              <a:spcAft>
                <a:spcPts val="200"/>
              </a:spcAft>
            </a:pPr>
            <a:r>
              <a:rPr sz="1600" b="1" i="0">
                <a:solidFill>
                  <a:srgbClr val="1B1F24"/>
                </a:solidFill>
                <a:latin typeface="Arial"/>
              </a:rPr>
              <a:t>Geometric refinement</a:t>
            </a:r>
          </a:p>
          <a:p>
            <a:pPr algn="l">
              <a:spcAft>
                <a:spcPts val="0"/>
              </a:spcAft>
            </a:pPr>
            <a:r>
              <a:rPr sz="1400" b="0" i="0">
                <a:solidFill>
                  <a:srgbClr val="1B1F24"/>
                </a:solidFill>
                <a:latin typeface="Arial"/>
              </a:rPr>
              <a:t>once the place is known: the path to sub-metre</a:t>
            </a:r>
          </a:p>
        </p:txBody>
      </p:sp>
      <p:cxnSp>
        <p:nvCxnSpPr>
          <p:cNvPr id="16" name="Connector 15"/>
          <p:cNvCxnSpPr/>
          <p:nvPr/>
        </p:nvCxnSpPr>
        <p:spPr>
          <a:xfrm>
            <a:off x="9524847" y="3959352"/>
            <a:ext cx="0" cy="310895"/>
          </a:xfrm>
          <a:prstGeom prst="line">
            <a:avLst/>
          </a:prstGeom>
          <a:ln w="28575">
            <a:solidFill>
              <a:srgbClr val="2F6FD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Next step 3"/>
          <p:cNvSpPr/>
          <p:nvPr/>
        </p:nvSpPr>
        <p:spPr>
          <a:xfrm>
            <a:off x="7406640" y="4297679"/>
            <a:ext cx="4236415" cy="914400"/>
          </a:xfrm>
          <a:prstGeom prst="roundRect">
            <a:avLst>
              <a:gd name="adj" fmla="val 8000"/>
            </a:avLst>
          </a:prstGeom>
          <a:solidFill>
            <a:srgbClr val="E3EDFC"/>
          </a:solidFill>
          <a:ln w="15875">
            <a:solidFill>
              <a:srgbClr val="2F6F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noAutofit/>
          </a:bodyPr>
          <a:lstStyle/>
          <a:p>
            <a:pPr algn="l">
              <a:spcAft>
                <a:spcPts val="200"/>
              </a:spcAft>
            </a:pPr>
            <a:r>
              <a:rPr sz="1600" b="1" i="0">
                <a:solidFill>
                  <a:srgbClr val="1B1F24"/>
                </a:solidFill>
                <a:latin typeface="Arial"/>
              </a:rPr>
              <a:t>Pick the best checkpoint</a:t>
            </a:r>
          </a:p>
          <a:p>
            <a:pPr algn="l">
              <a:spcAft>
                <a:spcPts val="0"/>
              </a:spcAft>
            </a:pPr>
            <a:r>
              <a:rPr sz="1400" b="0" i="0">
                <a:solidFill>
                  <a:srgbClr val="1B1F24"/>
                </a:solidFill>
                <a:latin typeface="Arial"/>
              </a:rPr>
              <a:t>by trajectory error, not the last epoch</a:t>
            </a:r>
          </a:p>
        </p:txBody>
      </p:sp>
      <p:sp>
        <p:nvSpPr>
          <p:cNvPr id="18" name="Declared and reproducible"/>
          <p:cNvSpPr/>
          <p:nvPr/>
        </p:nvSpPr>
        <p:spPr>
          <a:xfrm>
            <a:off x="548640" y="5349240"/>
            <a:ext cx="11094415" cy="96012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54864" rIns="2560320" bIns="54864">
            <a:noAutofit/>
          </a:bodyPr>
          <a:lstStyle/>
          <a:p>
            <a:pPr algn="l">
              <a:spcAft>
                <a:spcPts val="200"/>
              </a:spcAft>
            </a:pPr>
            <a:r>
              <a:rPr sz="1400" b="1" i="0">
                <a:solidFill>
                  <a:srgbClr val="1B1F24"/>
                </a:solidFill>
                <a:latin typeface="Arial"/>
              </a:rPr>
              <a:t>Declared pre-trained model: </a:t>
            </a:r>
            <a:r>
              <a:rPr sz="1400" b="0" i="0">
                <a:solidFill>
                  <a:srgbClr val="1B1F24"/>
                </a:solidFill>
                <a:latin typeface="Arial"/>
              </a:rPr>
              <a:t>ImageNet ResNet-18 (torchvision). </a:t>
            </a:r>
            <a:r>
              <a:rPr sz="1400" b="0" i="0">
                <a:solidFill>
                  <a:srgbClr val="1B1F24"/>
                </a:solidFill>
                <a:latin typeface="Arial"/>
              </a:rPr>
              <a:t>Unlabelled daylight-sample frames train the night-to-day translator.</a:t>
            </a:r>
          </a:p>
          <a:p>
            <a:pPr algn="l">
              <a:spcAft>
                <a:spcPts val="0"/>
              </a:spcAft>
            </a:pPr>
            <a:r>
              <a:rPr sz="1400" b="0" i="0">
                <a:solidFill>
                  <a:srgbClr val="5F6B7A"/>
                </a:solidFill>
                <a:latin typeface="Arial"/>
              </a:rPr>
              <a:t>Code, README and requirements.txt are in the repository.</a:t>
            </a:r>
          </a:p>
        </p:txBody>
      </p:sp>
      <p:sp>
        <p:nvSpPr>
          <p:cNvPr id="19" name="Placeholder: repository link"/>
          <p:cNvSpPr/>
          <p:nvPr/>
        </p:nvSpPr>
        <p:spPr>
          <a:xfrm>
            <a:off x="9357055" y="5650992"/>
            <a:ext cx="2148840" cy="365760"/>
          </a:xfrm>
          <a:prstGeom prst="roundRect">
            <a:avLst>
              <a:gd name="adj" fmla="val 20000"/>
            </a:avLst>
          </a:prstGeom>
          <a:solidFill>
            <a:srgbClr val="FFF4D6"/>
          </a:solidFill>
          <a:ln w="19050">
            <a:solidFill>
              <a:srgbClr val="E0A8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noAutofit/>
          </a:bodyPr>
          <a:lstStyle/>
          <a:p>
            <a:pPr algn="ctr">
              <a:spcAft>
                <a:spcPts val="0"/>
              </a:spcAft>
            </a:pPr>
            <a:r>
              <a:rPr sz="1400" b="1" i="0">
                <a:solidFill>
                  <a:srgbClr val="8A5A00"/>
                </a:solidFill>
                <a:latin typeface="Arial"/>
              </a:rPr>
              <a:t>Repo link: fill 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Camera-only race car localization</dc:title>
  <dc:subject>National AI Hackathon 2026, Constructor Labs challenge</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